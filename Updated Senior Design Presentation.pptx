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y="5143500" cx="9144000"/>
  <p:notesSz cx="6858000" cy="9144000"/>
  <p:embeddedFontLst>
    <p:embeddedFont>
      <p:font typeface="Raleway"/>
      <p:regular r:id="rId42"/>
      <p:bold r:id="rId43"/>
      <p:italic r:id="rId44"/>
      <p:boldItalic r:id="rId45"/>
    </p:embeddedFont>
    <p:embeddedFont>
      <p:font typeface="Lato"/>
      <p:regular r:id="rId46"/>
      <p:bold r:id="rId47"/>
      <p:italic r:id="rId48"/>
      <p:boldItalic r:id="rId49"/>
    </p:embeddedFont>
    <p:embeddedFont>
      <p:font typeface="Lexend"/>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Nikhil Dhiman"/>
  <p:cmAuthor clrIdx="1" id="1" initials="" lastIdx="3" name="Luci"/>
  <p:cmAuthor clrIdx="2" id="2" initials="" lastIdx="3" name="Luis Vicent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font" Target="fonts/Raleway-regular.fntdata"/><Relationship Id="rId41" Type="http://schemas.openxmlformats.org/officeDocument/2006/relationships/slide" Target="slides/slide33.xml"/><Relationship Id="rId44" Type="http://schemas.openxmlformats.org/officeDocument/2006/relationships/font" Target="fonts/Raleway-italic.fntdata"/><Relationship Id="rId43" Type="http://schemas.openxmlformats.org/officeDocument/2006/relationships/font" Target="fonts/Raleway-bold.fntdata"/><Relationship Id="rId46" Type="http://schemas.openxmlformats.org/officeDocument/2006/relationships/font" Target="fonts/Lato-regular.fntdata"/><Relationship Id="rId45" Type="http://schemas.openxmlformats.org/officeDocument/2006/relationships/font" Target="fonts/Raleway-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1.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Lexend-bold.fntdata"/><Relationship Id="rId50" Type="http://schemas.openxmlformats.org/officeDocument/2006/relationships/font" Target="fonts/Lexend-regular.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30T17:21:37.152">
    <p:pos x="6000" y="0"/>
    <p:text>Please pronounce names clearly, especially the professor’s name.</p:text>
  </p:cm>
  <p:cm authorId="0" idx="2" dt="2026-04-30T17:23:29.082">
    <p:pos x="6000" y="100"/>
    <p:text>phonetic spelling for Dr. Negin Forouzesh:  neh-GEEN fo-roo-ZESH</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4-28T22:06:29.573">
    <p:pos x="6000" y="0"/>
    <p:text>Example of a single entry in the json file</p:text>
  </p:cm>
  <p:cm authorId="1" idx="2" dt="2026-04-30T21:01:37.082">
    <p:pos x="6000" y="100"/>
    <p:text>Metadata</p:text>
  </p:cm>
  <p:cm authorId="1" idx="3" dt="2026-04-30T23:13:25.991">
    <p:pos x="6000" y="200"/>
    <p:text>Easier to review and debug because all related messages are grouped together.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6-05-01T03:31:44.219">
    <p:pos x="6000" y="0"/>
    <p:text>NEEDS PRESENTER</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2" dt="2026-05-01T03:31:19.815">
    <p:pos x="6000" y="0"/>
    <p:text>NEEDS PRESENTER</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3" dt="2026-05-01T03:31:25.637">
    <p:pos x="6000" y="0"/>
    <p:text>NEEDS PRESENTER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Gavin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Gavin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asked 47 questions and from those inquiries we noticed that the Cross Encoder Similarity test was the highest for our LLM + RAG model. From the first bar graph we can see that the blue bar is the highest out of all of them. The Llama model came in second while ChatGPT came in last. From the inquires we asked we noticed most of the sources were being pulled from the Emails. This is because the questions were formatted in a “why or how” format instead of a “Step by Step”. When the query is asked Step by Step we would receive more tutorial sources since they provide more relevant information on how to solve the issue. Using our cross encoder test we picked out the top best 5 sources that had the highest CE scores.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From the first scatter plot graph we notice how our LLM + RAG model has the highest CE similarity scores but results in less amount of word length. While the Llama model shows it is the 2nd best with more of an answer length than LLM + RAG. ChatGPT on the other hand has the highest word length with the lowest CE similarity score. The bar graph showing average keyword overlap shows us that ChatGPT had the highest keyword overlap than the other two pipelines. Even though the keyword overlap is the lowest for our LLM + RAG we resulted in more accurate information for our model. The keyword overlap test is a fallback in case the cross encoder doesn’t have high scores. Which is another reason why it’s lower for our LLM + RAG model.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dk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dk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dk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cxnSp>
        <p:nvCxnSpPr>
          <p:cNvPr id="19" name="Google Shape;19;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0" name="Google Shape;20;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1" name="Google Shape;21;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2" name="Google Shape;22;p4"/>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 name="Google Shape;23;p4"/>
          <p:cNvSpPr txBox="1"/>
          <p:nvPr>
            <p:ph idx="1" type="body"/>
          </p:nvPr>
        </p:nvSpPr>
        <p:spPr>
          <a:xfrm>
            <a:off x="2400303" y="1602675"/>
            <a:ext cx="3071400" cy="3002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4"/>
          <p:cNvSpPr txBox="1"/>
          <p:nvPr>
            <p:ph idx="2" type="body"/>
          </p:nvPr>
        </p:nvSpPr>
        <p:spPr>
          <a:xfrm>
            <a:off x="5650572" y="1602675"/>
            <a:ext cx="3071400" cy="3002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cxnSp>
        <p:nvCxnSpPr>
          <p:cNvPr id="27" name="Google Shape;27;p5"/>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28" name="Google Shape;28;p5"/>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29" name="Google Shape;29;p5"/>
          <p:cNvSpPr txBox="1"/>
          <p:nvPr>
            <p:ph type="title"/>
          </p:nvPr>
        </p:nvSpPr>
        <p:spPr>
          <a:xfrm>
            <a:off x="406425" y="1806825"/>
            <a:ext cx="8296800" cy="15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30" name="Google Shape;30;p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cxnSp>
        <p:nvCxnSpPr>
          <p:cNvPr id="32" name="Google Shape;32;p6"/>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3" name="Google Shape;33;p6"/>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4" name="Google Shape;34;p6"/>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5" name="Google Shape;35;p6"/>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6" name="Google Shape;36;p6"/>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7" name="Google Shape;37;p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7"/>
          <p:cNvSpPr txBox="1"/>
          <p:nvPr>
            <p:ph type="title"/>
          </p:nvPr>
        </p:nvSpPr>
        <p:spPr>
          <a:xfrm>
            <a:off x="303300" y="411575"/>
            <a:ext cx="8520600" cy="639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0" name="Google Shape;40;p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cxnSp>
        <p:nvCxnSpPr>
          <p:cNvPr id="42" name="Google Shape;42;p8"/>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3" name="Google Shape;43;p8"/>
          <p:cNvSpPr txBox="1"/>
          <p:nvPr>
            <p:ph type="title"/>
          </p:nvPr>
        </p:nvSpPr>
        <p:spPr>
          <a:xfrm>
            <a:off x="319500" y="936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4" name="Google Shape;44;p8"/>
          <p:cNvSpPr txBox="1"/>
          <p:nvPr>
            <p:ph idx="1" type="body"/>
          </p:nvPr>
        </p:nvSpPr>
        <p:spPr>
          <a:xfrm>
            <a:off x="319500" y="1846804"/>
            <a:ext cx="2808000" cy="2806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6" name="Shape 46"/>
        <p:cNvGrpSpPr/>
        <p:nvPr/>
      </p:nvGrpSpPr>
      <p:grpSpPr>
        <a:xfrm>
          <a:off x="0" y="0"/>
          <a:ext cx="0" cy="0"/>
          <a:chOff x="0" y="0"/>
          <a:chExt cx="0" cy="0"/>
        </a:xfrm>
      </p:grpSpPr>
      <p:cxnSp>
        <p:nvCxnSpPr>
          <p:cNvPr id="47" name="Google Shape;47;p9"/>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83103" y="712141"/>
            <a:ext cx="6244200" cy="38355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49" name="Google Shape;49;p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1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3" name="Google Shape;53;p10"/>
          <p:cNvSpPr txBox="1"/>
          <p:nvPr>
            <p:ph type="title"/>
          </p:nvPr>
        </p:nvSpPr>
        <p:spPr>
          <a:xfrm>
            <a:off x="265500" y="1397350"/>
            <a:ext cx="4045200" cy="1318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3600"/>
              <a:buNone/>
              <a:defRPr sz="3600">
                <a:solidFill>
                  <a:schemeClr val="dk1"/>
                </a:solidFill>
              </a:defRPr>
            </a:lvl1pPr>
            <a:lvl2pPr lvl="1" algn="ctr">
              <a:lnSpc>
                <a:spcPct val="100000"/>
              </a:lnSpc>
              <a:spcBef>
                <a:spcPts val="0"/>
              </a:spcBef>
              <a:spcAft>
                <a:spcPts val="0"/>
              </a:spcAft>
              <a:buClr>
                <a:schemeClr val="dk1"/>
              </a:buClr>
              <a:buSzPts val="3600"/>
              <a:buNone/>
              <a:defRPr sz="3600">
                <a:solidFill>
                  <a:schemeClr val="dk1"/>
                </a:solidFill>
              </a:defRPr>
            </a:lvl2pPr>
            <a:lvl3pPr lvl="2" algn="ctr">
              <a:lnSpc>
                <a:spcPct val="100000"/>
              </a:lnSpc>
              <a:spcBef>
                <a:spcPts val="0"/>
              </a:spcBef>
              <a:spcAft>
                <a:spcPts val="0"/>
              </a:spcAft>
              <a:buClr>
                <a:schemeClr val="dk1"/>
              </a:buClr>
              <a:buSzPts val="3600"/>
              <a:buNone/>
              <a:defRPr sz="3600">
                <a:solidFill>
                  <a:schemeClr val="dk1"/>
                </a:solidFill>
              </a:defRPr>
            </a:lvl3pPr>
            <a:lvl4pPr lvl="3" algn="ctr">
              <a:lnSpc>
                <a:spcPct val="100000"/>
              </a:lnSpc>
              <a:spcBef>
                <a:spcPts val="0"/>
              </a:spcBef>
              <a:spcAft>
                <a:spcPts val="0"/>
              </a:spcAft>
              <a:buClr>
                <a:schemeClr val="dk1"/>
              </a:buClr>
              <a:buSzPts val="3600"/>
              <a:buNone/>
              <a:defRPr sz="3600">
                <a:solidFill>
                  <a:schemeClr val="dk1"/>
                </a:solidFill>
              </a:defRPr>
            </a:lvl4pPr>
            <a:lvl5pPr lvl="4" algn="ctr">
              <a:lnSpc>
                <a:spcPct val="100000"/>
              </a:lnSpc>
              <a:spcBef>
                <a:spcPts val="0"/>
              </a:spcBef>
              <a:spcAft>
                <a:spcPts val="0"/>
              </a:spcAft>
              <a:buClr>
                <a:schemeClr val="dk1"/>
              </a:buClr>
              <a:buSzPts val="3600"/>
              <a:buNone/>
              <a:defRPr sz="3600">
                <a:solidFill>
                  <a:schemeClr val="dk1"/>
                </a:solidFill>
              </a:defRPr>
            </a:lvl5pPr>
            <a:lvl6pPr lvl="5" algn="ctr">
              <a:lnSpc>
                <a:spcPct val="100000"/>
              </a:lnSpc>
              <a:spcBef>
                <a:spcPts val="0"/>
              </a:spcBef>
              <a:spcAft>
                <a:spcPts val="0"/>
              </a:spcAft>
              <a:buClr>
                <a:schemeClr val="dk1"/>
              </a:buClr>
              <a:buSzPts val="3600"/>
              <a:buNone/>
              <a:defRPr sz="3600">
                <a:solidFill>
                  <a:schemeClr val="dk1"/>
                </a:solidFill>
              </a:defRPr>
            </a:lvl6pPr>
            <a:lvl7pPr lvl="6" algn="ctr">
              <a:lnSpc>
                <a:spcPct val="100000"/>
              </a:lnSpc>
              <a:spcBef>
                <a:spcPts val="0"/>
              </a:spcBef>
              <a:spcAft>
                <a:spcPts val="0"/>
              </a:spcAft>
              <a:buClr>
                <a:schemeClr val="dk1"/>
              </a:buClr>
              <a:buSzPts val="3600"/>
              <a:buNone/>
              <a:defRPr sz="3600">
                <a:solidFill>
                  <a:schemeClr val="dk1"/>
                </a:solidFill>
              </a:defRPr>
            </a:lvl7pPr>
            <a:lvl8pPr lvl="7" algn="ctr">
              <a:lnSpc>
                <a:spcPct val="100000"/>
              </a:lnSpc>
              <a:spcBef>
                <a:spcPts val="0"/>
              </a:spcBef>
              <a:spcAft>
                <a:spcPts val="0"/>
              </a:spcAft>
              <a:buClr>
                <a:schemeClr val="dk1"/>
              </a:buClr>
              <a:buSzPts val="3600"/>
              <a:buNone/>
              <a:defRPr sz="3600">
                <a:solidFill>
                  <a:schemeClr val="dk1"/>
                </a:solidFill>
              </a:defRPr>
            </a:lvl8pPr>
            <a:lvl9pPr lvl="8" algn="ctr">
              <a:lnSpc>
                <a:spcPct val="100000"/>
              </a:lnSpc>
              <a:spcBef>
                <a:spcPts val="0"/>
              </a:spcBef>
              <a:spcAft>
                <a:spcPts val="0"/>
              </a:spcAft>
              <a:buClr>
                <a:schemeClr val="dk1"/>
              </a:buClr>
              <a:buSzPts val="3600"/>
              <a:buNone/>
              <a:defRPr sz="3600">
                <a:solidFill>
                  <a:schemeClr val="dk1"/>
                </a:solidFill>
              </a:defRPr>
            </a:lvl9pPr>
          </a:lstStyle>
          <a:p/>
        </p:txBody>
      </p:sp>
      <p:sp>
        <p:nvSpPr>
          <p:cNvPr id="54" name="Google Shape;54;p10"/>
          <p:cNvSpPr txBox="1"/>
          <p:nvPr>
            <p:ph idx="1" type="subTitle"/>
          </p:nvPr>
        </p:nvSpPr>
        <p:spPr>
          <a:xfrm>
            <a:off x="265500" y="273537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1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6" name="Google Shape;56;p1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cxnSp>
        <p:nvCxnSpPr>
          <p:cNvPr id="58" name="Google Shape;58;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9" name="Google Shape;59;p11"/>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60" name="Google Shape;60;p11"/>
          <p:cNvSpPr txBox="1"/>
          <p:nvPr>
            <p:ph idx="1" type="body"/>
          </p:nvPr>
        </p:nvSpPr>
        <p:spPr>
          <a:xfrm>
            <a:off x="328017" y="4226025"/>
            <a:ext cx="8388600" cy="3936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1" name="Google Shape;61;p1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2" name="Shape 62"/>
        <p:cNvGrpSpPr/>
        <p:nvPr/>
      </p:nvGrpSpPr>
      <p:grpSpPr>
        <a:xfrm>
          <a:off x="0" y="0"/>
          <a:ext cx="0" cy="0"/>
          <a:chOff x="0" y="0"/>
          <a:chExt cx="0" cy="0"/>
        </a:xfrm>
      </p:grpSpPr>
      <p:cxnSp>
        <p:nvCxnSpPr>
          <p:cNvPr id="63" name="Google Shape;63;p12"/>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4" name="Google Shape;64;p12"/>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5" name="Google Shape;65;p12"/>
          <p:cNvSpPr txBox="1"/>
          <p:nvPr>
            <p:ph hasCustomPrompt="1" type="title"/>
          </p:nvPr>
        </p:nvSpPr>
        <p:spPr>
          <a:xfrm>
            <a:off x="853950" y="1304850"/>
            <a:ext cx="74361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6" name="Google Shape;66;p12"/>
          <p:cNvSpPr txBox="1"/>
          <p:nvPr>
            <p:ph idx="1" type="body"/>
          </p:nvPr>
        </p:nvSpPr>
        <p:spPr>
          <a:xfrm>
            <a:off x="853950" y="2919450"/>
            <a:ext cx="74361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7" name="Google Shape;67;p1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2" name="Shape 72"/>
        <p:cNvGrpSpPr/>
        <p:nvPr/>
      </p:nvGrpSpPr>
      <p:grpSpPr>
        <a:xfrm>
          <a:off x="0" y="0"/>
          <a:ext cx="0" cy="0"/>
          <a:chOff x="0" y="0"/>
          <a:chExt cx="0" cy="0"/>
        </a:xfrm>
      </p:grpSpPr>
      <p:cxnSp>
        <p:nvCxnSpPr>
          <p:cNvPr id="73" name="Google Shape;73;p1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74" name="Google Shape;74;p1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75" name="Google Shape;75;p1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76" name="Google Shape;76;p14"/>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7" name="Google Shape;77;p14"/>
          <p:cNvSpPr txBox="1"/>
          <p:nvPr>
            <p:ph idx="1" type="body"/>
          </p:nvPr>
        </p:nvSpPr>
        <p:spPr>
          <a:xfrm>
            <a:off x="2400303" y="1602675"/>
            <a:ext cx="3071400" cy="3002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14"/>
          <p:cNvSpPr txBox="1"/>
          <p:nvPr>
            <p:ph idx="2" type="body"/>
          </p:nvPr>
        </p:nvSpPr>
        <p:spPr>
          <a:xfrm>
            <a:off x="5650572" y="1602675"/>
            <a:ext cx="3071400" cy="3002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9" name="Google Shape;79;p1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0" name="Shape 80"/>
        <p:cNvGrpSpPr/>
        <p:nvPr/>
      </p:nvGrpSpPr>
      <p:grpSpPr>
        <a:xfrm>
          <a:off x="0" y="0"/>
          <a:ext cx="0" cy="0"/>
          <a:chOff x="0" y="0"/>
          <a:chExt cx="0" cy="0"/>
        </a:xfrm>
      </p:grpSpPr>
      <p:cxnSp>
        <p:nvCxnSpPr>
          <p:cNvPr id="81" name="Google Shape;81;p15"/>
          <p:cNvCxnSpPr/>
          <p:nvPr/>
        </p:nvCxnSpPr>
        <p:spPr>
          <a:xfrm>
            <a:off x="2477724" y="415650"/>
            <a:ext cx="6244200" cy="0"/>
          </a:xfrm>
          <a:prstGeom prst="straightConnector1">
            <a:avLst/>
          </a:prstGeom>
          <a:noFill/>
          <a:ln cap="flat" cmpd="sng" w="38100">
            <a:solidFill>
              <a:schemeClr val="dk1"/>
            </a:solidFill>
            <a:prstDash val="solid"/>
            <a:round/>
            <a:headEnd len="sm" w="sm" type="none"/>
            <a:tailEnd len="sm" w="sm" type="none"/>
          </a:ln>
        </p:spPr>
      </p:cxnSp>
      <p:cxnSp>
        <p:nvCxnSpPr>
          <p:cNvPr id="82" name="Google Shape;82;p15"/>
          <p:cNvCxnSpPr/>
          <p:nvPr/>
        </p:nvCxnSpPr>
        <p:spPr>
          <a:xfrm>
            <a:off x="2477724" y="4740000"/>
            <a:ext cx="6244200" cy="0"/>
          </a:xfrm>
          <a:prstGeom prst="straightConnector1">
            <a:avLst/>
          </a:prstGeom>
          <a:noFill/>
          <a:ln cap="flat" cmpd="sng" w="19050">
            <a:solidFill>
              <a:schemeClr val="dk1"/>
            </a:solidFill>
            <a:prstDash val="solid"/>
            <a:round/>
            <a:headEnd len="sm" w="sm" type="none"/>
            <a:tailEnd len="sm" w="sm" type="none"/>
          </a:ln>
        </p:spPr>
      </p:cxnSp>
      <p:cxnSp>
        <p:nvCxnSpPr>
          <p:cNvPr id="83" name="Google Shape;83;p15"/>
          <p:cNvCxnSpPr/>
          <p:nvPr/>
        </p:nvCxnSpPr>
        <p:spPr>
          <a:xfrm>
            <a:off x="425198" y="415650"/>
            <a:ext cx="183300" cy="0"/>
          </a:xfrm>
          <a:prstGeom prst="straightConnector1">
            <a:avLst/>
          </a:prstGeom>
          <a:noFill/>
          <a:ln cap="flat" cmpd="sng" w="19050">
            <a:solidFill>
              <a:schemeClr val="dk1"/>
            </a:solidFill>
            <a:prstDash val="solid"/>
            <a:round/>
            <a:headEnd len="sm" w="sm" type="none"/>
            <a:tailEnd len="sm" w="sm" type="none"/>
          </a:ln>
        </p:spPr>
      </p:cxnSp>
      <p:sp>
        <p:nvSpPr>
          <p:cNvPr id="84" name="Google Shape;84;p15"/>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85" name="Google Shape;85;p15"/>
          <p:cNvSpPr txBox="1"/>
          <p:nvPr>
            <p:ph idx="1" type="subTitle"/>
          </p:nvPr>
        </p:nvSpPr>
        <p:spPr>
          <a:xfrm>
            <a:off x="2390267" y="3238450"/>
            <a:ext cx="6331500" cy="1241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86" name="Google Shape;86;p1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87" name="Shape 87"/>
        <p:cNvGrpSpPr/>
        <p:nvPr/>
      </p:nvGrpSpPr>
      <p:grpSpPr>
        <a:xfrm>
          <a:off x="0" y="0"/>
          <a:ext cx="0" cy="0"/>
          <a:chOff x="0" y="0"/>
          <a:chExt cx="0" cy="0"/>
        </a:xfrm>
      </p:grpSpPr>
      <p:cxnSp>
        <p:nvCxnSpPr>
          <p:cNvPr id="88" name="Google Shape;88;p16"/>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89" name="Google Shape;89;p16"/>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90" name="Google Shape;90;p16"/>
          <p:cNvSpPr txBox="1"/>
          <p:nvPr>
            <p:ph type="title"/>
          </p:nvPr>
        </p:nvSpPr>
        <p:spPr>
          <a:xfrm>
            <a:off x="406425" y="1806825"/>
            <a:ext cx="8296800" cy="15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91" name="Google Shape;91;p1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 name="Shape 92"/>
        <p:cNvGrpSpPr/>
        <p:nvPr/>
      </p:nvGrpSpPr>
      <p:grpSpPr>
        <a:xfrm>
          <a:off x="0" y="0"/>
          <a:ext cx="0" cy="0"/>
          <a:chOff x="0" y="0"/>
          <a:chExt cx="0" cy="0"/>
        </a:xfrm>
      </p:grpSpPr>
      <p:cxnSp>
        <p:nvCxnSpPr>
          <p:cNvPr id="93" name="Google Shape;93;p17"/>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94" name="Google Shape;94;p17"/>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95" name="Google Shape;95;p1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96" name="Google Shape;96;p17"/>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 name="Google Shape;97;p17"/>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8" name="Google Shape;98;p1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sp>
        <p:nvSpPr>
          <p:cNvPr id="100" name="Google Shape;100;p18"/>
          <p:cNvSpPr txBox="1"/>
          <p:nvPr>
            <p:ph type="title"/>
          </p:nvPr>
        </p:nvSpPr>
        <p:spPr>
          <a:xfrm>
            <a:off x="303300" y="411575"/>
            <a:ext cx="8520600" cy="639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1" name="Google Shape;101;p1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04" name="Google Shape;104;p19"/>
          <p:cNvSpPr txBox="1"/>
          <p:nvPr>
            <p:ph type="title"/>
          </p:nvPr>
        </p:nvSpPr>
        <p:spPr>
          <a:xfrm>
            <a:off x="319500" y="936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9500" y="1846804"/>
            <a:ext cx="2808000" cy="2806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7" name="Shape 107"/>
        <p:cNvGrpSpPr/>
        <p:nvPr/>
      </p:nvGrpSpPr>
      <p:grpSpPr>
        <a:xfrm>
          <a:off x="0" y="0"/>
          <a:ext cx="0" cy="0"/>
          <a:chOff x="0" y="0"/>
          <a:chExt cx="0" cy="0"/>
        </a:xfrm>
      </p:grpSpPr>
      <p:cxnSp>
        <p:nvCxnSpPr>
          <p:cNvPr id="108" name="Google Shape;108;p20"/>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09" name="Google Shape;109;p20"/>
          <p:cNvSpPr txBox="1"/>
          <p:nvPr>
            <p:ph type="title"/>
          </p:nvPr>
        </p:nvSpPr>
        <p:spPr>
          <a:xfrm>
            <a:off x="283103" y="712141"/>
            <a:ext cx="6244200" cy="38355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10" name="Google Shape;110;p2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1" name="Shape 111"/>
        <p:cNvGrpSpPr/>
        <p:nvPr/>
      </p:nvGrpSpPr>
      <p:grpSpPr>
        <a:xfrm>
          <a:off x="0" y="0"/>
          <a:ext cx="0" cy="0"/>
          <a:chOff x="0" y="0"/>
          <a:chExt cx="0" cy="0"/>
        </a:xfrm>
      </p:grpSpPr>
      <p:sp>
        <p:nvSpPr>
          <p:cNvPr id="112" name="Google Shape;112;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3" name="Google Shape;113;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14" name="Google Shape;114;p21"/>
          <p:cNvSpPr txBox="1"/>
          <p:nvPr>
            <p:ph type="title"/>
          </p:nvPr>
        </p:nvSpPr>
        <p:spPr>
          <a:xfrm>
            <a:off x="265500" y="1397350"/>
            <a:ext cx="4045200" cy="1318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1"/>
              </a:buClr>
              <a:buSzPts val="3600"/>
              <a:buNone/>
              <a:defRPr sz="3600">
                <a:solidFill>
                  <a:schemeClr val="dk1"/>
                </a:solidFill>
              </a:defRPr>
            </a:lvl1pPr>
            <a:lvl2pPr lvl="1" algn="ctr">
              <a:lnSpc>
                <a:spcPct val="100000"/>
              </a:lnSpc>
              <a:spcBef>
                <a:spcPts val="0"/>
              </a:spcBef>
              <a:spcAft>
                <a:spcPts val="0"/>
              </a:spcAft>
              <a:buClr>
                <a:schemeClr val="dk1"/>
              </a:buClr>
              <a:buSzPts val="3600"/>
              <a:buNone/>
              <a:defRPr sz="3600">
                <a:solidFill>
                  <a:schemeClr val="dk1"/>
                </a:solidFill>
              </a:defRPr>
            </a:lvl2pPr>
            <a:lvl3pPr lvl="2" algn="ctr">
              <a:lnSpc>
                <a:spcPct val="100000"/>
              </a:lnSpc>
              <a:spcBef>
                <a:spcPts val="0"/>
              </a:spcBef>
              <a:spcAft>
                <a:spcPts val="0"/>
              </a:spcAft>
              <a:buClr>
                <a:schemeClr val="dk1"/>
              </a:buClr>
              <a:buSzPts val="3600"/>
              <a:buNone/>
              <a:defRPr sz="3600">
                <a:solidFill>
                  <a:schemeClr val="dk1"/>
                </a:solidFill>
              </a:defRPr>
            </a:lvl3pPr>
            <a:lvl4pPr lvl="3" algn="ctr">
              <a:lnSpc>
                <a:spcPct val="100000"/>
              </a:lnSpc>
              <a:spcBef>
                <a:spcPts val="0"/>
              </a:spcBef>
              <a:spcAft>
                <a:spcPts val="0"/>
              </a:spcAft>
              <a:buClr>
                <a:schemeClr val="dk1"/>
              </a:buClr>
              <a:buSzPts val="3600"/>
              <a:buNone/>
              <a:defRPr sz="3600">
                <a:solidFill>
                  <a:schemeClr val="dk1"/>
                </a:solidFill>
              </a:defRPr>
            </a:lvl4pPr>
            <a:lvl5pPr lvl="4" algn="ctr">
              <a:lnSpc>
                <a:spcPct val="100000"/>
              </a:lnSpc>
              <a:spcBef>
                <a:spcPts val="0"/>
              </a:spcBef>
              <a:spcAft>
                <a:spcPts val="0"/>
              </a:spcAft>
              <a:buClr>
                <a:schemeClr val="dk1"/>
              </a:buClr>
              <a:buSzPts val="3600"/>
              <a:buNone/>
              <a:defRPr sz="3600">
                <a:solidFill>
                  <a:schemeClr val="dk1"/>
                </a:solidFill>
              </a:defRPr>
            </a:lvl5pPr>
            <a:lvl6pPr lvl="5" algn="ctr">
              <a:lnSpc>
                <a:spcPct val="100000"/>
              </a:lnSpc>
              <a:spcBef>
                <a:spcPts val="0"/>
              </a:spcBef>
              <a:spcAft>
                <a:spcPts val="0"/>
              </a:spcAft>
              <a:buClr>
                <a:schemeClr val="dk1"/>
              </a:buClr>
              <a:buSzPts val="3600"/>
              <a:buNone/>
              <a:defRPr sz="3600">
                <a:solidFill>
                  <a:schemeClr val="dk1"/>
                </a:solidFill>
              </a:defRPr>
            </a:lvl6pPr>
            <a:lvl7pPr lvl="6" algn="ctr">
              <a:lnSpc>
                <a:spcPct val="100000"/>
              </a:lnSpc>
              <a:spcBef>
                <a:spcPts val="0"/>
              </a:spcBef>
              <a:spcAft>
                <a:spcPts val="0"/>
              </a:spcAft>
              <a:buClr>
                <a:schemeClr val="dk1"/>
              </a:buClr>
              <a:buSzPts val="3600"/>
              <a:buNone/>
              <a:defRPr sz="3600">
                <a:solidFill>
                  <a:schemeClr val="dk1"/>
                </a:solidFill>
              </a:defRPr>
            </a:lvl7pPr>
            <a:lvl8pPr lvl="7" algn="ctr">
              <a:lnSpc>
                <a:spcPct val="100000"/>
              </a:lnSpc>
              <a:spcBef>
                <a:spcPts val="0"/>
              </a:spcBef>
              <a:spcAft>
                <a:spcPts val="0"/>
              </a:spcAft>
              <a:buClr>
                <a:schemeClr val="dk1"/>
              </a:buClr>
              <a:buSzPts val="3600"/>
              <a:buNone/>
              <a:defRPr sz="3600">
                <a:solidFill>
                  <a:schemeClr val="dk1"/>
                </a:solidFill>
              </a:defRPr>
            </a:lvl8pPr>
            <a:lvl9pPr lvl="8" algn="ctr">
              <a:lnSpc>
                <a:spcPct val="100000"/>
              </a:lnSpc>
              <a:spcBef>
                <a:spcPts val="0"/>
              </a:spcBef>
              <a:spcAft>
                <a:spcPts val="0"/>
              </a:spcAft>
              <a:buClr>
                <a:schemeClr val="dk1"/>
              </a:buClr>
              <a:buSzPts val="3600"/>
              <a:buNone/>
              <a:defRPr sz="3600">
                <a:solidFill>
                  <a:schemeClr val="dk1"/>
                </a:solidFill>
              </a:defRPr>
            </a:lvl9pPr>
          </a:lstStyle>
          <a:p/>
        </p:txBody>
      </p:sp>
      <p:sp>
        <p:nvSpPr>
          <p:cNvPr id="115" name="Google Shape;115;p21"/>
          <p:cNvSpPr txBox="1"/>
          <p:nvPr>
            <p:ph idx="1" type="subTitle"/>
          </p:nvPr>
        </p:nvSpPr>
        <p:spPr>
          <a:xfrm>
            <a:off x="265500" y="273537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6" name="Google Shape;116;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117" name="Google Shape;117;p2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cxnSp>
        <p:nvCxnSpPr>
          <p:cNvPr id="119" name="Google Shape;119;p22"/>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120" name="Google Shape;120;p22"/>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121" name="Google Shape;121;p22"/>
          <p:cNvSpPr txBox="1"/>
          <p:nvPr>
            <p:ph idx="1" type="body"/>
          </p:nvPr>
        </p:nvSpPr>
        <p:spPr>
          <a:xfrm>
            <a:off x="328017" y="4226025"/>
            <a:ext cx="8388600" cy="3936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2" name="Google Shape;122;p2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 name="Shape 123"/>
        <p:cNvGrpSpPr/>
        <p:nvPr/>
      </p:nvGrpSpPr>
      <p:grpSpPr>
        <a:xfrm>
          <a:off x="0" y="0"/>
          <a:ext cx="0" cy="0"/>
          <a:chOff x="0" y="0"/>
          <a:chExt cx="0" cy="0"/>
        </a:xfrm>
      </p:grpSpPr>
      <p:cxnSp>
        <p:nvCxnSpPr>
          <p:cNvPr id="124" name="Google Shape;124;p23"/>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125" name="Google Shape;125;p23"/>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126" name="Google Shape;126;p23"/>
          <p:cNvSpPr txBox="1"/>
          <p:nvPr>
            <p:ph hasCustomPrompt="1" type="title"/>
          </p:nvPr>
        </p:nvSpPr>
        <p:spPr>
          <a:xfrm>
            <a:off x="853950" y="1304850"/>
            <a:ext cx="74361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127" name="Google Shape;127;p23"/>
          <p:cNvSpPr txBox="1"/>
          <p:nvPr>
            <p:ph idx="1" type="body"/>
          </p:nvPr>
        </p:nvSpPr>
        <p:spPr>
          <a:xfrm>
            <a:off x="853950" y="2919450"/>
            <a:ext cx="74361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2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0" name="Shape 140"/>
        <p:cNvGrpSpPr/>
        <p:nvPr/>
      </p:nvGrpSpPr>
      <p:grpSpPr>
        <a:xfrm>
          <a:off x="0" y="0"/>
          <a:ext cx="0" cy="0"/>
          <a:chOff x="0" y="0"/>
          <a:chExt cx="0" cy="0"/>
        </a:xfrm>
      </p:grpSpPr>
      <p:sp>
        <p:nvSpPr>
          <p:cNvPr id="141" name="Google Shape;141;p2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2" name="Google Shape;142;p26"/>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26"/>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 name="Google Shape;145;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6" name="Google Shape;146;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7" name="Shape 147"/>
        <p:cNvGrpSpPr/>
        <p:nvPr/>
      </p:nvGrpSpPr>
      <p:grpSpPr>
        <a:xfrm>
          <a:off x="0" y="0"/>
          <a:ext cx="0" cy="0"/>
          <a:chOff x="0" y="0"/>
          <a:chExt cx="0" cy="0"/>
        </a:xfrm>
      </p:grpSpPr>
      <p:sp>
        <p:nvSpPr>
          <p:cNvPr id="148" name="Google Shape;148;p2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9" name="Google Shape;149;p27"/>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50" name="Google Shape;150;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1" name="Google Shape;151;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2" name="Google Shape;152;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3" name="Shape 153"/>
        <p:cNvGrpSpPr/>
        <p:nvPr/>
      </p:nvGrpSpPr>
      <p:grpSpPr>
        <a:xfrm>
          <a:off x="0" y="0"/>
          <a:ext cx="0" cy="0"/>
          <a:chOff x="0" y="0"/>
          <a:chExt cx="0" cy="0"/>
        </a:xfrm>
      </p:grpSpPr>
      <p:sp>
        <p:nvSpPr>
          <p:cNvPr id="154" name="Google Shape;154;p2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 name="Google Shape;155;p2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6" name="Google Shape;156;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 name="Google Shape;157;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8" name="Google Shape;158;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9" name="Shape 159"/>
        <p:cNvGrpSpPr/>
        <p:nvPr/>
      </p:nvGrpSpPr>
      <p:grpSpPr>
        <a:xfrm>
          <a:off x="0" y="0"/>
          <a:ext cx="0" cy="0"/>
          <a:chOff x="0" y="0"/>
          <a:chExt cx="0" cy="0"/>
        </a:xfrm>
      </p:grpSpPr>
      <p:sp>
        <p:nvSpPr>
          <p:cNvPr id="160" name="Google Shape;160;p29"/>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1" name="Google Shape;161;p29"/>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62" name="Google Shape;162;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3" name="Google Shape;163;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4" name="Google Shape;164;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5" name="Shape 165"/>
        <p:cNvGrpSpPr/>
        <p:nvPr/>
      </p:nvGrpSpPr>
      <p:grpSpPr>
        <a:xfrm>
          <a:off x="0" y="0"/>
          <a:ext cx="0" cy="0"/>
          <a:chOff x="0" y="0"/>
          <a:chExt cx="0" cy="0"/>
        </a:xfrm>
      </p:grpSpPr>
      <p:sp>
        <p:nvSpPr>
          <p:cNvPr id="166" name="Google Shape;166;p30"/>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 name="Google Shape;167;p30"/>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68" name="Google Shape;168;p30"/>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9" name="Google Shape;169;p30"/>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70" name="Google Shape;170;p30"/>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1" name="Google Shape;171;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2" name="Google Shape;172;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3" name="Google Shape;173;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4" name="Shape 174"/>
        <p:cNvGrpSpPr/>
        <p:nvPr/>
      </p:nvGrpSpPr>
      <p:grpSpPr>
        <a:xfrm>
          <a:off x="0" y="0"/>
          <a:ext cx="0" cy="0"/>
          <a:chOff x="0" y="0"/>
          <a:chExt cx="0" cy="0"/>
        </a:xfrm>
      </p:grpSpPr>
      <p:sp>
        <p:nvSpPr>
          <p:cNvPr id="175" name="Google Shape;175;p3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 name="Google Shape;176;p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7" name="Google Shape;177;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8" name="Google Shape;178;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9" name="Shape 179"/>
        <p:cNvGrpSpPr/>
        <p:nvPr/>
      </p:nvGrpSpPr>
      <p:grpSpPr>
        <a:xfrm>
          <a:off x="0" y="0"/>
          <a:ext cx="0" cy="0"/>
          <a:chOff x="0" y="0"/>
          <a:chExt cx="0" cy="0"/>
        </a:xfrm>
      </p:grpSpPr>
      <p:sp>
        <p:nvSpPr>
          <p:cNvPr id="180" name="Google Shape;180;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1" name="Google Shape;181;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2" name="Google Shape;182;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3" name="Shape 183"/>
        <p:cNvGrpSpPr/>
        <p:nvPr/>
      </p:nvGrpSpPr>
      <p:grpSpPr>
        <a:xfrm>
          <a:off x="0" y="0"/>
          <a:ext cx="0" cy="0"/>
          <a:chOff x="0" y="0"/>
          <a:chExt cx="0" cy="0"/>
        </a:xfrm>
      </p:grpSpPr>
      <p:sp>
        <p:nvSpPr>
          <p:cNvPr id="184" name="Google Shape;184;p3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5" name="Google Shape;185;p33"/>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86" name="Google Shape;186;p33"/>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87" name="Google Shape;187;p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8" name="Google Shape;188;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9" name="Google Shape;189;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0" name="Shape 190"/>
        <p:cNvGrpSpPr/>
        <p:nvPr/>
      </p:nvGrpSpPr>
      <p:grpSpPr>
        <a:xfrm>
          <a:off x="0" y="0"/>
          <a:ext cx="0" cy="0"/>
          <a:chOff x="0" y="0"/>
          <a:chExt cx="0" cy="0"/>
        </a:xfrm>
      </p:grpSpPr>
      <p:sp>
        <p:nvSpPr>
          <p:cNvPr id="191" name="Google Shape;191;p34"/>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2" name="Google Shape;192;p34"/>
          <p:cNvSpPr/>
          <p:nvPr>
            <p:ph idx="2" type="pic"/>
          </p:nvPr>
        </p:nvSpPr>
        <p:spPr>
          <a:xfrm>
            <a:off x="3887391" y="740569"/>
            <a:ext cx="4629300" cy="3655200"/>
          </a:xfrm>
          <a:prstGeom prst="rect">
            <a:avLst/>
          </a:prstGeom>
          <a:noFill/>
          <a:ln>
            <a:noFill/>
          </a:ln>
        </p:spPr>
      </p:sp>
      <p:sp>
        <p:nvSpPr>
          <p:cNvPr id="193" name="Google Shape;193;p34"/>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94" name="Google Shape;194;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5" name="Google Shape;195;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6" name="Google Shape;196;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7" name="Shape 197"/>
        <p:cNvGrpSpPr/>
        <p:nvPr/>
      </p:nvGrpSpPr>
      <p:grpSpPr>
        <a:xfrm>
          <a:off x="0" y="0"/>
          <a:ext cx="0" cy="0"/>
          <a:chOff x="0" y="0"/>
          <a:chExt cx="0" cy="0"/>
        </a:xfrm>
      </p:grpSpPr>
      <p:sp>
        <p:nvSpPr>
          <p:cNvPr id="198" name="Google Shape;198;p3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9" name="Google Shape;199;p35"/>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0" name="Google Shape;200;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1" name="Google Shape;201;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2" name="Google Shape;202;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3" name="Shape 203"/>
        <p:cNvGrpSpPr/>
        <p:nvPr/>
      </p:nvGrpSpPr>
      <p:grpSpPr>
        <a:xfrm>
          <a:off x="0" y="0"/>
          <a:ext cx="0" cy="0"/>
          <a:chOff x="0" y="0"/>
          <a:chExt cx="0" cy="0"/>
        </a:xfrm>
      </p:grpSpPr>
      <p:sp>
        <p:nvSpPr>
          <p:cNvPr id="204" name="Google Shape;204;p36"/>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5" name="Google Shape;205;p36"/>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6" name="Google Shape;206;p3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7" name="Google Shape;207;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8" name="Google Shape;208;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theme" Target="../theme/theme1.xml"/><Relationship Id="rId12" Type="http://schemas.openxmlformats.org/officeDocument/2006/relationships/slideLayout" Target="../slideLayouts/slideLayout33.xml"/><Relationship Id="rId1" Type="http://schemas.openxmlformats.org/officeDocument/2006/relationships/image" Target="../media/image10.png"/><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68" name="Shape 68"/>
        <p:cNvGrpSpPr/>
        <p:nvPr/>
      </p:nvGrpSpPr>
      <p:grpSpPr>
        <a:xfrm>
          <a:off x="0" y="0"/>
          <a:ext cx="0" cy="0"/>
          <a:chOff x="0" y="0"/>
          <a:chExt cx="0" cy="0"/>
        </a:xfrm>
      </p:grpSpPr>
      <p:sp>
        <p:nvSpPr>
          <p:cNvPr id="69" name="Google Shape;69;p13"/>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70" name="Google Shape;70;p13"/>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71" name="Google Shape;71;p1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2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33" name="Google Shape;133;p2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34" name="Google Shape;134;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5" name="Google Shape;135;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6" name="Google Shape;136;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p:nvPr/>
        </p:nvSpPr>
        <p:spPr>
          <a:xfrm>
            <a:off x="0" y="0"/>
            <a:ext cx="483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5"/>
          <p:cNvSpPr/>
          <p:nvPr/>
        </p:nvSpPr>
        <p:spPr>
          <a:xfrm>
            <a:off x="490591" y="-37271"/>
            <a:ext cx="8661000" cy="273900"/>
          </a:xfrm>
          <a:prstGeom prst="rect">
            <a:avLst/>
          </a:prstGeom>
          <a:solidFill>
            <a:srgbClr val="FFC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139" name="Google Shape;139;p25"/>
          <p:cNvPicPr preferRelativeResize="0"/>
          <p:nvPr/>
        </p:nvPicPr>
        <p:blipFill rotWithShape="1">
          <a:blip r:embed="rId1">
            <a:alphaModFix/>
          </a:blip>
          <a:srcRect b="0" l="0" r="0" t="0"/>
          <a:stretch/>
        </p:blipFill>
        <p:spPr>
          <a:xfrm>
            <a:off x="8530259" y="4721163"/>
            <a:ext cx="564042" cy="34230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24.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6.png"/><Relationship Id="rId9" Type="http://schemas.openxmlformats.org/officeDocument/2006/relationships/image" Target="../media/image20.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7.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2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5.jpg"/><Relationship Id="rId5" Type="http://schemas.openxmlformats.org/officeDocument/2006/relationships/image" Target="../media/image9.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2.xml"/><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23.png"/><Relationship Id="rId7"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26.png"/><Relationship Id="rId6"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37.png"/><Relationship Id="rId6"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30.png"/><Relationship Id="rId7"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3.xml"/><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36.png"/><Relationship Id="rId6"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35.png"/><Relationship Id="rId6"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42.png"/><Relationship Id="rId6" Type="http://schemas.openxmlformats.org/officeDocument/2006/relationships/image" Target="../media/image34.png"/><Relationship Id="rId7"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43.png"/><Relationship Id="rId6" Type="http://schemas.openxmlformats.org/officeDocument/2006/relationships/image" Target="../media/image45.png"/><Relationship Id="rId7"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comments" Target="../comments/comment4.xml"/><Relationship Id="rId4" Type="http://schemas.openxmlformats.org/officeDocument/2006/relationships/image" Target="../media/image18.png"/><Relationship Id="rId5" Type="http://schemas.openxmlformats.org/officeDocument/2006/relationships/image" Target="../media/image3.png"/><Relationship Id="rId6"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comments" Target="../comments/comment5.xml"/><Relationship Id="rId4" Type="http://schemas.openxmlformats.org/officeDocument/2006/relationships/image" Target="../media/image11.png"/><Relationship Id="rId5"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46.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5.png"/></Relationships>
</file>

<file path=ppt/slides/_rels/slide33.xml.rels><?xml version="1.0" encoding="UTF-8" standalone="yes"?><Relationships xmlns="http://schemas.openxmlformats.org/package/2006/relationships"><Relationship Id="rId11" Type="http://schemas.openxmlformats.org/officeDocument/2006/relationships/hyperlink" Target="https://duckdb.org" TargetMode="External"/><Relationship Id="rId10" Type="http://schemas.openxmlformats.org/officeDocument/2006/relationships/hyperlink" Target="https://docs.trychroma.com" TargetMode="External"/><Relationship Id="rId13" Type="http://schemas.openxmlformats.org/officeDocument/2006/relationships/hyperlink" Target="https://www.crummy.com/software/BeautifulSoup/bs4/doc" TargetMode="External"/><Relationship Id="rId12" Type="http://schemas.openxmlformats.org/officeDocument/2006/relationships/hyperlink" Target="https://airflow.apache.org/docs" TargetMode="External"/><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hyperlink" Target="https://www.sbert.net" TargetMode="External"/><Relationship Id="rId14" Type="http://schemas.openxmlformats.org/officeDocument/2006/relationships/hyperlink" Target="https://research.ibm.com/blog/retrieval-augmented-generation" TargetMode="External"/><Relationship Id="rId5" Type="http://schemas.openxmlformats.org/officeDocument/2006/relationships/image" Target="../media/image11.png"/><Relationship Id="rId6" Type="http://schemas.openxmlformats.org/officeDocument/2006/relationships/hyperlink" Target="https://ambermd.org" TargetMode="External"/><Relationship Id="rId7" Type="http://schemas.openxmlformats.org/officeDocument/2006/relationships/hyperlink" Target="https://archive.ambermd.org" TargetMode="External"/><Relationship Id="rId8" Type="http://schemas.openxmlformats.org/officeDocument/2006/relationships/hyperlink" Target="https://ambermd.org/tutorial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7"/>
          <p:cNvPicPr preferRelativeResize="0"/>
          <p:nvPr/>
        </p:nvPicPr>
        <p:blipFill rotWithShape="1">
          <a:blip r:embed="rId4">
            <a:alphaModFix/>
          </a:blip>
          <a:srcRect b="0" l="0" r="0" t="0"/>
          <a:stretch/>
        </p:blipFill>
        <p:spPr>
          <a:xfrm>
            <a:off x="-81553" y="0"/>
            <a:ext cx="3397063" cy="4029077"/>
          </a:xfrm>
          <a:prstGeom prst="rect">
            <a:avLst/>
          </a:prstGeom>
          <a:noFill/>
          <a:ln>
            <a:noFill/>
          </a:ln>
        </p:spPr>
      </p:pic>
      <p:sp>
        <p:nvSpPr>
          <p:cNvPr id="214" name="Google Shape;214;p37"/>
          <p:cNvSpPr/>
          <p:nvPr/>
        </p:nvSpPr>
        <p:spPr>
          <a:xfrm>
            <a:off x="2689848" y="7567"/>
            <a:ext cx="6455400" cy="4586400"/>
          </a:xfrm>
          <a:prstGeom prst="rect">
            <a:avLst/>
          </a:prstGeom>
          <a:solidFill>
            <a:srgbClr val="FFC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5" name="Google Shape;215;p37"/>
          <p:cNvSpPr txBox="1"/>
          <p:nvPr/>
        </p:nvSpPr>
        <p:spPr>
          <a:xfrm>
            <a:off x="3315500" y="1905525"/>
            <a:ext cx="5175900" cy="790500"/>
          </a:xfrm>
          <a:prstGeom prst="rect">
            <a:avLst/>
          </a:prstGeom>
          <a:noFill/>
          <a:ln>
            <a:noFill/>
          </a:ln>
        </p:spPr>
        <p:txBody>
          <a:bodyPr anchorCtr="0" anchor="b" bIns="34275" lIns="68575" spcFirstLastPara="1" rIns="68575" wrap="square" tIns="34275">
            <a:normAutofit fontScale="55000" lnSpcReduction="10000"/>
          </a:bodyPr>
          <a:lstStyle/>
          <a:p>
            <a:pPr indent="0" lvl="0" marL="0" marR="0" rtl="0" algn="ctr">
              <a:lnSpc>
                <a:spcPct val="100000"/>
              </a:lnSpc>
              <a:spcBef>
                <a:spcPts val="0"/>
              </a:spcBef>
              <a:spcAft>
                <a:spcPts val="0"/>
              </a:spcAft>
              <a:buClr>
                <a:schemeClr val="dk2"/>
              </a:buClr>
              <a:buSzPts val="605"/>
              <a:buFont typeface="Arial"/>
              <a:buNone/>
            </a:pPr>
            <a:r>
              <a:rPr b="1" i="0" lang="en" sz="4800" u="none" cap="none" strike="noStrike">
                <a:solidFill>
                  <a:schemeClr val="dk2"/>
                </a:solidFill>
                <a:latin typeface="Arial"/>
                <a:ea typeface="Arial"/>
                <a:cs typeface="Arial"/>
                <a:sym typeface="Arial"/>
              </a:rPr>
              <a:t>Amber Molecular Dynamics </a:t>
            </a:r>
            <a:br>
              <a:rPr b="1" i="0" lang="en" sz="4800" u="none" cap="none" strike="noStrike">
                <a:solidFill>
                  <a:schemeClr val="dk2"/>
                </a:solidFill>
                <a:latin typeface="Arial"/>
                <a:ea typeface="Arial"/>
                <a:cs typeface="Arial"/>
                <a:sym typeface="Arial"/>
              </a:rPr>
            </a:br>
            <a:r>
              <a:rPr b="1" i="0" lang="en" sz="2022" u="none" cap="none" strike="noStrike">
                <a:solidFill>
                  <a:schemeClr val="dk2"/>
                </a:solidFill>
                <a:latin typeface="Arial"/>
                <a:ea typeface="Arial"/>
                <a:cs typeface="Arial"/>
                <a:sym typeface="Arial"/>
              </a:rPr>
              <a:t>AI Powered Chatbot Assistant</a:t>
            </a:r>
            <a:endParaRPr b="1" i="0" sz="2022" u="none" cap="none" strike="noStrike">
              <a:solidFill>
                <a:schemeClr val="dk2"/>
              </a:solidFill>
              <a:latin typeface="Arial"/>
              <a:ea typeface="Arial"/>
              <a:cs typeface="Arial"/>
              <a:sym typeface="Arial"/>
            </a:endParaRPr>
          </a:p>
          <a:p>
            <a:pPr indent="0" lvl="0" marL="0" marR="0" rtl="0" algn="ctr">
              <a:lnSpc>
                <a:spcPct val="90000"/>
              </a:lnSpc>
              <a:spcBef>
                <a:spcPts val="0"/>
              </a:spcBef>
              <a:spcAft>
                <a:spcPts val="0"/>
              </a:spcAft>
              <a:buClr>
                <a:schemeClr val="dk1"/>
              </a:buClr>
              <a:buSzPct val="100000"/>
              <a:buFont typeface="Times New Roman"/>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216" name="Google Shape;216;p37"/>
          <p:cNvSpPr txBox="1"/>
          <p:nvPr/>
        </p:nvSpPr>
        <p:spPr>
          <a:xfrm>
            <a:off x="2688515" y="3161989"/>
            <a:ext cx="6455400" cy="7800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2"/>
              </a:buClr>
              <a:buSzPts val="1400"/>
              <a:buFont typeface="Arial"/>
              <a:buNone/>
            </a:pPr>
            <a:r>
              <a:t/>
            </a:r>
            <a:endParaRPr b="0" baseline="30000" i="0" sz="14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Clr>
                <a:schemeClr val="dk2"/>
              </a:buClr>
              <a:buSzPts val="1400"/>
              <a:buFont typeface="Arial"/>
              <a:buNone/>
            </a:pPr>
            <a:r>
              <a:t/>
            </a:r>
            <a:endParaRPr b="0" baseline="30000" i="0" sz="1400" u="none" cap="none" strike="noStrike">
              <a:solidFill>
                <a:schemeClr val="dk1"/>
              </a:solidFill>
              <a:latin typeface="Calibri"/>
              <a:ea typeface="Calibri"/>
              <a:cs typeface="Calibri"/>
              <a:sym typeface="Calibri"/>
            </a:endParaRPr>
          </a:p>
        </p:txBody>
      </p:sp>
      <p:pic>
        <p:nvPicPr>
          <p:cNvPr id="217" name="Google Shape;217;p37"/>
          <p:cNvPicPr preferRelativeResize="0"/>
          <p:nvPr/>
        </p:nvPicPr>
        <p:blipFill rotWithShape="1">
          <a:blip r:embed="rId5">
            <a:alphaModFix/>
          </a:blip>
          <a:srcRect b="0" l="0" r="0" t="0"/>
          <a:stretch/>
        </p:blipFill>
        <p:spPr>
          <a:xfrm>
            <a:off x="4341848" y="7563"/>
            <a:ext cx="3151414" cy="1912525"/>
          </a:xfrm>
          <a:prstGeom prst="rect">
            <a:avLst/>
          </a:prstGeom>
          <a:noFill/>
          <a:ln>
            <a:noFill/>
          </a:ln>
        </p:spPr>
      </p:pic>
      <p:sp>
        <p:nvSpPr>
          <p:cNvPr id="218" name="Google Shape;218;p37"/>
          <p:cNvSpPr/>
          <p:nvPr/>
        </p:nvSpPr>
        <p:spPr>
          <a:xfrm>
            <a:off x="-81554" y="4029075"/>
            <a:ext cx="9225600" cy="1114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9" name="Google Shape;219;p37"/>
          <p:cNvSpPr txBox="1"/>
          <p:nvPr>
            <p:ph idx="1" type="subTitle"/>
          </p:nvPr>
        </p:nvSpPr>
        <p:spPr>
          <a:xfrm>
            <a:off x="3408925" y="3559338"/>
            <a:ext cx="3304200" cy="502200"/>
          </a:xfrm>
          <a:prstGeom prst="rect">
            <a:avLst/>
          </a:prstGeom>
          <a:noFill/>
          <a:ln>
            <a:noFill/>
          </a:ln>
        </p:spPr>
        <p:txBody>
          <a:bodyPr anchorCtr="0" anchor="b" bIns="91425" lIns="91425" spcFirstLastPara="1" rIns="91425" wrap="square" tIns="91425">
            <a:normAutofit lnSpcReduction="10000"/>
          </a:bodyPr>
          <a:lstStyle/>
          <a:p>
            <a:pPr indent="0" lvl="0" marL="0" rtl="0" algn="l">
              <a:lnSpc>
                <a:spcPct val="90000"/>
              </a:lnSpc>
              <a:spcBef>
                <a:spcPts val="0"/>
              </a:spcBef>
              <a:spcAft>
                <a:spcPts val="0"/>
              </a:spcAft>
              <a:buSzPts val="1800"/>
              <a:buNone/>
            </a:pPr>
            <a:r>
              <a:rPr lang="en" sz="1200">
                <a:solidFill>
                  <a:schemeClr val="dk2"/>
                </a:solidFill>
                <a:latin typeface="Arial"/>
                <a:ea typeface="Arial"/>
                <a:cs typeface="Arial"/>
                <a:sym typeface="Arial"/>
              </a:rPr>
              <a:t>Graduate Student Assistant:</a:t>
            </a:r>
            <a:r>
              <a:rPr b="1" lang="en" sz="1200">
                <a:solidFill>
                  <a:schemeClr val="dk2"/>
                </a:solidFill>
                <a:latin typeface="Arial"/>
                <a:ea typeface="Arial"/>
                <a:cs typeface="Arial"/>
                <a:sym typeface="Arial"/>
              </a:rPr>
              <a:t> Nikhil Dhiman</a:t>
            </a:r>
            <a:br>
              <a:rPr b="1" lang="en" sz="1200">
                <a:solidFill>
                  <a:schemeClr val="dk2"/>
                </a:solidFill>
                <a:latin typeface="Arial"/>
                <a:ea typeface="Arial"/>
                <a:cs typeface="Arial"/>
                <a:sym typeface="Arial"/>
              </a:rPr>
            </a:br>
            <a:r>
              <a:rPr lang="en" sz="1200">
                <a:solidFill>
                  <a:schemeClr val="dk2"/>
                </a:solidFill>
                <a:latin typeface="Arial"/>
                <a:ea typeface="Arial"/>
                <a:cs typeface="Arial"/>
                <a:sym typeface="Arial"/>
              </a:rPr>
              <a:t>Faculty Supervisor: </a:t>
            </a:r>
            <a:r>
              <a:rPr b="1" lang="en" sz="1200">
                <a:solidFill>
                  <a:schemeClr val="dk2"/>
                </a:solidFill>
                <a:latin typeface="Arial"/>
                <a:ea typeface="Arial"/>
                <a:cs typeface="Arial"/>
                <a:sym typeface="Arial"/>
              </a:rPr>
              <a:t>Dr. Negin Forouzesh</a:t>
            </a:r>
            <a:endParaRPr b="1" sz="1200">
              <a:solidFill>
                <a:schemeClr val="dk2"/>
              </a:solidFill>
              <a:latin typeface="Arial"/>
              <a:ea typeface="Arial"/>
              <a:cs typeface="Arial"/>
              <a:sym typeface="Arial"/>
            </a:endParaRPr>
          </a:p>
        </p:txBody>
      </p:sp>
      <p:pic>
        <p:nvPicPr>
          <p:cNvPr id="220" name="Google Shape;220;p37" title="Screenshot 2025-12-04 at 6.59.47 PM.png"/>
          <p:cNvPicPr preferRelativeResize="0"/>
          <p:nvPr/>
        </p:nvPicPr>
        <p:blipFill rotWithShape="1">
          <a:blip r:embed="rId6">
            <a:alphaModFix/>
          </a:blip>
          <a:srcRect b="0" l="0" r="0" t="0"/>
          <a:stretch/>
        </p:blipFill>
        <p:spPr>
          <a:xfrm>
            <a:off x="-81550" y="4233400"/>
            <a:ext cx="9225601" cy="471100"/>
          </a:xfrm>
          <a:prstGeom prst="rect">
            <a:avLst/>
          </a:prstGeom>
          <a:noFill/>
          <a:ln>
            <a:noFill/>
          </a:ln>
        </p:spPr>
      </p:pic>
      <p:sp>
        <p:nvSpPr>
          <p:cNvPr id="221" name="Google Shape;221;p37"/>
          <p:cNvSpPr txBox="1"/>
          <p:nvPr>
            <p:ph idx="1" type="subTitle"/>
          </p:nvPr>
        </p:nvSpPr>
        <p:spPr>
          <a:xfrm>
            <a:off x="3315500" y="2696025"/>
            <a:ext cx="5992800" cy="890400"/>
          </a:xfrm>
          <a:prstGeom prst="rect">
            <a:avLst/>
          </a:prstGeom>
          <a:noFill/>
          <a:ln>
            <a:noFill/>
          </a:ln>
        </p:spPr>
        <p:txBody>
          <a:bodyPr anchorCtr="0" anchor="b" bIns="91425" lIns="91425" spcFirstLastPara="1" rIns="91425" wrap="square" tIns="91425">
            <a:normAutofit/>
          </a:bodyPr>
          <a:lstStyle/>
          <a:p>
            <a:pPr indent="0" lvl="0" marL="0" rtl="0" algn="l">
              <a:lnSpc>
                <a:spcPct val="90000"/>
              </a:lnSpc>
              <a:spcBef>
                <a:spcPts val="0"/>
              </a:spcBef>
              <a:spcAft>
                <a:spcPts val="0"/>
              </a:spcAft>
              <a:buSzPts val="1800"/>
              <a:buNone/>
            </a:pPr>
            <a:r>
              <a:rPr b="1" lang="en" sz="1200">
                <a:solidFill>
                  <a:schemeClr val="dk2"/>
                </a:solidFill>
                <a:latin typeface="Arial"/>
                <a:ea typeface="Arial"/>
                <a:cs typeface="Arial"/>
                <a:sym typeface="Arial"/>
              </a:rPr>
              <a:t>Braedon Edison		Gavin Chan			Luis Vicente Cruz</a:t>
            </a:r>
            <a:br>
              <a:rPr b="1" lang="en" sz="1200">
                <a:solidFill>
                  <a:schemeClr val="dk2"/>
                </a:solidFill>
                <a:latin typeface="Arial"/>
                <a:ea typeface="Arial"/>
                <a:cs typeface="Arial"/>
                <a:sym typeface="Arial"/>
              </a:rPr>
            </a:br>
            <a:r>
              <a:rPr b="1" lang="en" sz="1200">
                <a:solidFill>
                  <a:schemeClr val="dk2"/>
                </a:solidFill>
                <a:latin typeface="Arial"/>
                <a:ea typeface="Arial"/>
                <a:cs typeface="Arial"/>
                <a:sym typeface="Arial"/>
              </a:rPr>
              <a:t>Alejandro Urbano		Christian Perez		Leonardo Pahtle Quechol</a:t>
            </a:r>
            <a:br>
              <a:rPr b="1" lang="en" sz="1200">
                <a:solidFill>
                  <a:schemeClr val="dk2"/>
                </a:solidFill>
                <a:latin typeface="Arial"/>
                <a:ea typeface="Arial"/>
                <a:cs typeface="Arial"/>
                <a:sym typeface="Arial"/>
              </a:rPr>
            </a:br>
            <a:r>
              <a:rPr b="1" lang="en" sz="1200">
                <a:solidFill>
                  <a:schemeClr val="dk2"/>
                </a:solidFill>
                <a:latin typeface="Arial"/>
                <a:ea typeface="Arial"/>
                <a:cs typeface="Arial"/>
                <a:sym typeface="Arial"/>
              </a:rPr>
              <a:t>Luciano Aldana		Isaiah Villalobos		Ira Vizcarra</a:t>
            </a:r>
            <a:endParaRPr b="1" sz="1200">
              <a:solidFill>
                <a:schemeClr val="dk2"/>
              </a:solidFill>
              <a:latin typeface="Arial"/>
              <a:ea typeface="Arial"/>
              <a:cs typeface="Arial"/>
              <a:sym typeface="Arial"/>
            </a:endParaRPr>
          </a:p>
          <a:p>
            <a:pPr indent="0" lvl="0" marL="0" rtl="0" algn="l">
              <a:lnSpc>
                <a:spcPct val="90000"/>
              </a:lnSpc>
              <a:spcBef>
                <a:spcPts val="0"/>
              </a:spcBef>
              <a:spcAft>
                <a:spcPts val="0"/>
              </a:spcAft>
              <a:buSzPts val="1800"/>
              <a:buNone/>
            </a:pPr>
            <a:r>
              <a:rPr b="1" lang="en" sz="1200">
                <a:solidFill>
                  <a:schemeClr val="dk2"/>
                </a:solidFill>
                <a:latin typeface="Arial"/>
                <a:ea typeface="Arial"/>
                <a:cs typeface="Arial"/>
                <a:sym typeface="Arial"/>
              </a:rPr>
              <a:t>				Astrid Zepeda		Benjamin Saucedo</a:t>
            </a:r>
            <a:endParaRPr b="1" sz="1200">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225" name="Shape 225"/>
        <p:cNvGrpSpPr/>
        <p:nvPr/>
      </p:nvGrpSpPr>
      <p:grpSpPr>
        <a:xfrm>
          <a:off x="0" y="0"/>
          <a:ext cx="0" cy="0"/>
          <a:chOff x="0" y="0"/>
          <a:chExt cx="0" cy="0"/>
        </a:xfrm>
      </p:grpSpPr>
      <p:sp>
        <p:nvSpPr>
          <p:cNvPr id="226" name="Google Shape;226;p38"/>
          <p:cNvSpPr txBox="1"/>
          <p:nvPr>
            <p:ph type="ctrTitle"/>
          </p:nvPr>
        </p:nvSpPr>
        <p:spPr>
          <a:xfrm>
            <a:off x="2371725" y="630225"/>
            <a:ext cx="6331500" cy="1542000"/>
          </a:xfrm>
          <a:prstGeom prst="rect">
            <a:avLst/>
          </a:prstGeom>
          <a:noFill/>
          <a:ln>
            <a:noFill/>
          </a:ln>
        </p:spPr>
        <p:txBody>
          <a:bodyPr anchorCtr="0" anchor="t" bIns="91425" lIns="91425" spcFirstLastPara="1" rIns="91425" wrap="square" tIns="91425">
            <a:normAutofit fontScale="90000"/>
          </a:bodyPr>
          <a:lstStyle/>
          <a:p>
            <a:pPr indent="0" lvl="0" marL="0" rtl="0" algn="r">
              <a:lnSpc>
                <a:spcPct val="100000"/>
              </a:lnSpc>
              <a:spcBef>
                <a:spcPts val="0"/>
              </a:spcBef>
              <a:spcAft>
                <a:spcPts val="0"/>
              </a:spcAft>
              <a:buSzPct val="111111"/>
              <a:buNone/>
            </a:pPr>
            <a:r>
              <a:rPr lang="en">
                <a:solidFill>
                  <a:schemeClr val="dk2"/>
                </a:solidFill>
                <a:latin typeface="Arial"/>
                <a:ea typeface="Arial"/>
                <a:cs typeface="Arial"/>
                <a:sym typeface="Arial"/>
              </a:rPr>
              <a:t>Presentation</a:t>
            </a:r>
            <a:endParaRPr>
              <a:solidFill>
                <a:schemeClr val="dk2"/>
              </a:solidFill>
              <a:latin typeface="Arial"/>
              <a:ea typeface="Arial"/>
              <a:cs typeface="Arial"/>
              <a:sym typeface="Arial"/>
            </a:endParaRPr>
          </a:p>
          <a:p>
            <a:pPr indent="0" lvl="0" marL="0" rtl="0" algn="r">
              <a:lnSpc>
                <a:spcPct val="100000"/>
              </a:lnSpc>
              <a:spcBef>
                <a:spcPts val="0"/>
              </a:spcBef>
              <a:spcAft>
                <a:spcPts val="0"/>
              </a:spcAft>
              <a:buSzPct val="111111"/>
              <a:buNone/>
            </a:pPr>
            <a:r>
              <a:rPr lang="en">
                <a:solidFill>
                  <a:schemeClr val="dk2"/>
                </a:solidFill>
                <a:latin typeface="Arial"/>
                <a:ea typeface="Arial"/>
                <a:cs typeface="Arial"/>
                <a:sym typeface="Arial"/>
              </a:rPr>
              <a:t>Outline</a:t>
            </a:r>
            <a:endParaRPr>
              <a:solidFill>
                <a:schemeClr val="dk2"/>
              </a:solidFill>
              <a:latin typeface="Arial"/>
              <a:ea typeface="Arial"/>
              <a:cs typeface="Arial"/>
              <a:sym typeface="Arial"/>
            </a:endParaRPr>
          </a:p>
        </p:txBody>
      </p:sp>
      <p:sp>
        <p:nvSpPr>
          <p:cNvPr id="227" name="Google Shape;227;p38"/>
          <p:cNvSpPr txBox="1"/>
          <p:nvPr>
            <p:ph idx="1" type="subTitle"/>
          </p:nvPr>
        </p:nvSpPr>
        <p:spPr>
          <a:xfrm>
            <a:off x="780875" y="484675"/>
            <a:ext cx="4638600" cy="3512100"/>
          </a:xfrm>
          <a:prstGeom prst="rect">
            <a:avLst/>
          </a:prstGeom>
          <a:noFill/>
          <a:ln>
            <a:noFill/>
          </a:ln>
        </p:spPr>
        <p:txBody>
          <a:bodyPr anchorCtr="0" anchor="b" bIns="91425" lIns="91425" spcFirstLastPara="1" rIns="91425" wrap="square" tIns="91425">
            <a:normAutofit lnSpcReduction="20000"/>
          </a:bodyPr>
          <a:lstStyle/>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Introducing Amber</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Project Design &amp; Requirements</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Database</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Data Scraping</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Retrieval-Augmented Generation (RAG)</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Results &amp; Discussion</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Interactive Tutorial Notebooks</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a:solidFill>
                <a:schemeClr val="dk2"/>
              </a:solidFill>
              <a:latin typeface="Arial"/>
              <a:ea typeface="Arial"/>
              <a:cs typeface="Arial"/>
              <a:sym typeface="Arial"/>
            </a:endParaRPr>
          </a:p>
          <a:p>
            <a:pPr indent="0" lvl="0" marL="0" rtl="0" algn="l">
              <a:lnSpc>
                <a:spcPct val="100000"/>
              </a:lnSpc>
              <a:spcBef>
                <a:spcPts val="0"/>
              </a:spcBef>
              <a:spcAft>
                <a:spcPts val="0"/>
              </a:spcAft>
              <a:buSzPts val="1800"/>
              <a:buNone/>
            </a:pPr>
            <a:r>
              <a:rPr lang="en">
                <a:solidFill>
                  <a:schemeClr val="dk2"/>
                </a:solidFill>
                <a:latin typeface="Arial"/>
                <a:ea typeface="Arial"/>
                <a:cs typeface="Arial"/>
                <a:sym typeface="Arial"/>
              </a:rPr>
              <a:t>Conclusion + Q&amp;A</a:t>
            </a:r>
            <a:endParaRPr>
              <a:solidFill>
                <a:schemeClr val="dk2"/>
              </a:solidFill>
              <a:latin typeface="Arial"/>
              <a:ea typeface="Arial"/>
              <a:cs typeface="Arial"/>
              <a:sym typeface="Arial"/>
            </a:endParaRPr>
          </a:p>
        </p:txBody>
      </p:sp>
      <p:cxnSp>
        <p:nvCxnSpPr>
          <p:cNvPr id="228" name="Google Shape;228;p38"/>
          <p:cNvCxnSpPr/>
          <p:nvPr/>
        </p:nvCxnSpPr>
        <p:spPr>
          <a:xfrm flipH="1">
            <a:off x="557575" y="495225"/>
            <a:ext cx="10800" cy="3751500"/>
          </a:xfrm>
          <a:prstGeom prst="straightConnector1">
            <a:avLst/>
          </a:prstGeom>
          <a:noFill/>
          <a:ln cap="flat" cmpd="sng" w="28575">
            <a:solidFill>
              <a:schemeClr val="dk2"/>
            </a:solidFill>
            <a:prstDash val="dot"/>
            <a:round/>
            <a:headEnd len="sm" w="sm" type="none"/>
            <a:tailEnd len="sm" w="sm" type="none"/>
          </a:ln>
        </p:spPr>
      </p:cxnSp>
      <p:sp>
        <p:nvSpPr>
          <p:cNvPr id="229" name="Google Shape;229;p38"/>
          <p:cNvSpPr/>
          <p:nvPr/>
        </p:nvSpPr>
        <p:spPr>
          <a:xfrm>
            <a:off x="-81554" y="4029075"/>
            <a:ext cx="9225600" cy="1114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230" name="Google Shape;230;p38" title="Screenshot 2025-12-04 at 6.59.47 PM.png"/>
          <p:cNvPicPr preferRelativeResize="0"/>
          <p:nvPr/>
        </p:nvPicPr>
        <p:blipFill rotWithShape="1">
          <a:blip r:embed="rId3">
            <a:alphaModFix/>
          </a:blip>
          <a:srcRect b="0" l="0" r="0" t="0"/>
          <a:stretch/>
        </p:blipFill>
        <p:spPr>
          <a:xfrm>
            <a:off x="-81550" y="4233400"/>
            <a:ext cx="9225601" cy="471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236" name="Google Shape;236;p39"/>
          <p:cNvSpPr/>
          <p:nvPr/>
        </p:nvSpPr>
        <p:spPr>
          <a:xfrm>
            <a:off x="2728200" y="790176"/>
            <a:ext cx="6459300" cy="3287400"/>
          </a:xfrm>
          <a:prstGeom prst="rect">
            <a:avLst/>
          </a:prstGeom>
          <a:solidFill>
            <a:srgbClr val="CC4125"/>
          </a:solidFill>
          <a:ln>
            <a:noFill/>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237" name="Google Shape;237;p39"/>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238" name="Google Shape;238;p39"/>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Amber MD</a:t>
            </a:r>
            <a:endParaRPr b="1" i="0" sz="3700" u="none" cap="none" strike="noStrike">
              <a:solidFill>
                <a:schemeClr val="lt1"/>
              </a:solidFill>
              <a:latin typeface="Lexend"/>
              <a:ea typeface="Lexend"/>
              <a:cs typeface="Lexend"/>
              <a:sym typeface="Lexend"/>
            </a:endParaRPr>
          </a:p>
        </p:txBody>
      </p:sp>
      <p:pic>
        <p:nvPicPr>
          <p:cNvPr id="239" name="Google Shape;239;p39"/>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240" name="Google Shape;240;p39"/>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241" name="Google Shape;241;p39"/>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Astrid</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 name="Shape 245"/>
        <p:cNvGrpSpPr/>
        <p:nvPr/>
      </p:nvGrpSpPr>
      <p:grpSpPr>
        <a:xfrm>
          <a:off x="0" y="0"/>
          <a:ext cx="0" cy="0"/>
          <a:chOff x="0" y="0"/>
          <a:chExt cx="0" cy="0"/>
        </a:xfrm>
      </p:grpSpPr>
      <p:pic>
        <p:nvPicPr>
          <p:cNvPr id="246" name="Google Shape;246;p40"/>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247" name="Google Shape;247;p40"/>
          <p:cNvSpPr txBox="1"/>
          <p:nvPr>
            <p:ph type="title"/>
          </p:nvPr>
        </p:nvSpPr>
        <p:spPr>
          <a:xfrm>
            <a:off x="763800" y="494975"/>
            <a:ext cx="35343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is Amber?</a:t>
            </a:r>
            <a:endParaRPr/>
          </a:p>
        </p:txBody>
      </p:sp>
      <p:sp>
        <p:nvSpPr>
          <p:cNvPr id="248" name="Google Shape;248;p40"/>
          <p:cNvSpPr txBox="1"/>
          <p:nvPr>
            <p:ph idx="2" type="body"/>
          </p:nvPr>
        </p:nvSpPr>
        <p:spPr>
          <a:xfrm>
            <a:off x="1020350" y="1330832"/>
            <a:ext cx="6934500" cy="3002400"/>
          </a:xfrm>
          <a:prstGeom prst="rect">
            <a:avLst/>
          </a:prstGeom>
          <a:noFill/>
          <a:ln>
            <a:noFill/>
          </a:ln>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A molecular dynamics software suite for simulating proteins, nucleic acids, and other biomolecules.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Built on trusted and widely used force fields for accurate atomic-level modeling.</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Provides a full ecosystem for system preparation, simulation, and analysis.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Used globally in drug discovery, biophysics, and computational chemistry.</a:t>
            </a:r>
            <a:endParaRPr sz="1200">
              <a:latin typeface="Arial"/>
              <a:ea typeface="Arial"/>
              <a:cs typeface="Arial"/>
              <a:sym typeface="Arial"/>
            </a:endParaRPr>
          </a:p>
        </p:txBody>
      </p:sp>
      <p:pic>
        <p:nvPicPr>
          <p:cNvPr id="249" name="Google Shape;249;p40"/>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pic>
        <p:nvPicPr>
          <p:cNvPr id="250" name="Google Shape;250;p40" title="Screenshot 2025-12-02 194949.png"/>
          <p:cNvPicPr preferRelativeResize="0"/>
          <p:nvPr/>
        </p:nvPicPr>
        <p:blipFill rotWithShape="1">
          <a:blip r:embed="rId5">
            <a:alphaModFix/>
          </a:blip>
          <a:srcRect b="0" l="0" r="0" t="0"/>
          <a:stretch/>
        </p:blipFill>
        <p:spPr>
          <a:xfrm>
            <a:off x="1232750" y="2706025"/>
            <a:ext cx="2985375" cy="1993925"/>
          </a:xfrm>
          <a:prstGeom prst="rect">
            <a:avLst/>
          </a:prstGeom>
          <a:noFill/>
          <a:ln>
            <a:noFill/>
          </a:ln>
        </p:spPr>
      </p:pic>
      <p:pic>
        <p:nvPicPr>
          <p:cNvPr id="251" name="Google Shape;251;p40" title="Screenshot 2025-12-03 172441.png"/>
          <p:cNvPicPr preferRelativeResize="0"/>
          <p:nvPr/>
        </p:nvPicPr>
        <p:blipFill rotWithShape="1">
          <a:blip r:embed="rId6">
            <a:alphaModFix/>
          </a:blip>
          <a:srcRect b="0" l="0" r="0" t="0"/>
          <a:stretch/>
        </p:blipFill>
        <p:spPr>
          <a:xfrm>
            <a:off x="4906596" y="2739800"/>
            <a:ext cx="2931553" cy="1993924"/>
          </a:xfrm>
          <a:prstGeom prst="rect">
            <a:avLst/>
          </a:prstGeom>
          <a:noFill/>
          <a:ln>
            <a:noFill/>
          </a:ln>
        </p:spPr>
      </p:pic>
      <p:sp>
        <p:nvSpPr>
          <p:cNvPr id="252" name="Google Shape;252;p40"/>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Astrid</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41"/>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258" name="Google Shape;258;p41"/>
          <p:cNvSpPr txBox="1"/>
          <p:nvPr>
            <p:ph type="title"/>
          </p:nvPr>
        </p:nvSpPr>
        <p:spPr>
          <a:xfrm>
            <a:off x="763800" y="392388"/>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Problem &amp; Our Solution</a:t>
            </a:r>
            <a:endParaRPr/>
          </a:p>
        </p:txBody>
      </p:sp>
      <p:pic>
        <p:nvPicPr>
          <p:cNvPr id="259" name="Google Shape;259;p41"/>
          <p:cNvPicPr preferRelativeResize="0"/>
          <p:nvPr/>
        </p:nvPicPr>
        <p:blipFill rotWithShape="1">
          <a:blip r:embed="rId4">
            <a:alphaModFix/>
          </a:blip>
          <a:srcRect b="0" l="0" r="0" t="0"/>
          <a:stretch/>
        </p:blipFill>
        <p:spPr>
          <a:xfrm>
            <a:off x="8001050" y="349625"/>
            <a:ext cx="720925" cy="720925"/>
          </a:xfrm>
          <a:prstGeom prst="rect">
            <a:avLst/>
          </a:prstGeom>
          <a:noFill/>
          <a:ln>
            <a:noFill/>
          </a:ln>
        </p:spPr>
      </p:pic>
      <p:pic>
        <p:nvPicPr>
          <p:cNvPr id="260" name="Google Shape;260;p41" title="Screenshot 2025-12-03 173515.png"/>
          <p:cNvPicPr preferRelativeResize="0"/>
          <p:nvPr/>
        </p:nvPicPr>
        <p:blipFill rotWithShape="1">
          <a:blip r:embed="rId5">
            <a:alphaModFix/>
          </a:blip>
          <a:srcRect b="0" l="0" r="0" t="0"/>
          <a:stretch/>
        </p:blipFill>
        <p:spPr>
          <a:xfrm>
            <a:off x="5492850" y="1324853"/>
            <a:ext cx="3368648" cy="1602074"/>
          </a:xfrm>
          <a:prstGeom prst="rect">
            <a:avLst/>
          </a:prstGeom>
          <a:solidFill>
            <a:srgbClr val="626C2E"/>
          </a:solidFill>
          <a:ln cap="flat" cmpd="sng" w="9525">
            <a:solidFill>
              <a:srgbClr val="626C2E"/>
            </a:solidFill>
            <a:prstDash val="solid"/>
            <a:miter lim="8000"/>
            <a:headEnd len="sm" w="sm" type="none"/>
            <a:tailEnd len="sm" w="sm" type="none"/>
          </a:ln>
        </p:spPr>
      </p:pic>
      <p:sp>
        <p:nvSpPr>
          <p:cNvPr id="261" name="Google Shape;261;p41"/>
          <p:cNvSpPr txBox="1"/>
          <p:nvPr>
            <p:ph idx="2" type="body"/>
          </p:nvPr>
        </p:nvSpPr>
        <p:spPr>
          <a:xfrm>
            <a:off x="937100" y="1414125"/>
            <a:ext cx="4356000" cy="300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400"/>
              <a:buNone/>
            </a:pPr>
            <a:r>
              <a:rPr lang="en" sz="1200">
                <a:latin typeface="Arial"/>
                <a:ea typeface="Arial"/>
                <a:cs typeface="Arial"/>
                <a:sym typeface="Arial"/>
              </a:rPr>
              <a:t>Amber advises users to search the mailing list, manual, and FAQ before discussing questions. However, these resources are large and hard to filter manually.</a:t>
            </a:r>
            <a:endParaRPr sz="1200">
              <a:latin typeface="Arial"/>
              <a:ea typeface="Arial"/>
              <a:cs typeface="Arial"/>
              <a:sym typeface="Arial"/>
            </a:endParaRPr>
          </a:p>
          <a:p>
            <a:pPr indent="0" lvl="0" marL="0" rtl="0" algn="l">
              <a:lnSpc>
                <a:spcPct val="115000"/>
              </a:lnSpc>
              <a:spcBef>
                <a:spcPts val="1200"/>
              </a:spcBef>
              <a:spcAft>
                <a:spcPts val="0"/>
              </a:spcAft>
              <a:buSzPts val="1400"/>
              <a:buNone/>
            </a:pPr>
            <a:r>
              <a:rPr lang="en" sz="1200">
                <a:latin typeface="Arial"/>
                <a:ea typeface="Arial"/>
                <a:cs typeface="Arial"/>
                <a:sym typeface="Arial"/>
              </a:rPr>
              <a:t>Our proposed solution: </a:t>
            </a:r>
            <a:r>
              <a:rPr b="1" lang="en" sz="1200">
                <a:latin typeface="Arial"/>
                <a:ea typeface="Arial"/>
                <a:cs typeface="Arial"/>
                <a:sym typeface="Arial"/>
              </a:rPr>
              <a:t>create a chatbot experience</a:t>
            </a:r>
            <a:r>
              <a:rPr lang="en" sz="1200">
                <a:latin typeface="Arial"/>
                <a:ea typeface="Arial"/>
                <a:cs typeface="Arial"/>
                <a:sym typeface="Arial"/>
              </a:rPr>
              <a:t> for users to efficiently navigate Amber programs and inquiries.</a:t>
            </a:r>
            <a:endParaRPr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Provide clear, step-by-step answers with links to original sources.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Agent collects missing details and verifies commands before responding.</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Low-confidence cases are escalated to human support for reliability.</a:t>
            </a:r>
            <a:endParaRPr sz="1200">
              <a:latin typeface="Arial"/>
              <a:ea typeface="Arial"/>
              <a:cs typeface="Arial"/>
              <a:sym typeface="Arial"/>
            </a:endParaRPr>
          </a:p>
          <a:p>
            <a:pPr indent="0" lvl="0" marL="0" rtl="0" algn="l">
              <a:lnSpc>
                <a:spcPct val="115000"/>
              </a:lnSpc>
              <a:spcBef>
                <a:spcPts val="1200"/>
              </a:spcBef>
              <a:spcAft>
                <a:spcPts val="0"/>
              </a:spcAft>
              <a:buSzPts val="1400"/>
              <a:buNone/>
            </a:pPr>
            <a:r>
              <a:t/>
            </a:r>
            <a:endParaRPr sz="12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200">
              <a:latin typeface="Arial"/>
              <a:ea typeface="Arial"/>
              <a:cs typeface="Arial"/>
              <a:sym typeface="Arial"/>
            </a:endParaRPr>
          </a:p>
        </p:txBody>
      </p:sp>
      <p:sp>
        <p:nvSpPr>
          <p:cNvPr id="262" name="Google Shape;262;p41"/>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Astrid</a:t>
            </a:r>
            <a:endParaRPr b="0" i="0" sz="1200" u="none" cap="none" strike="noStrike">
              <a:solidFill>
                <a:schemeClr val="dk2"/>
              </a:solidFill>
              <a:latin typeface="Arial"/>
              <a:ea typeface="Arial"/>
              <a:cs typeface="Arial"/>
              <a:sym typeface="Arial"/>
            </a:endParaRPr>
          </a:p>
        </p:txBody>
      </p:sp>
      <p:pic>
        <p:nvPicPr>
          <p:cNvPr descr="A diagram of a chatbot and a robot&#10;&#10;AI-generated content may be incorrect." id="263" name="Google Shape;263;p41"/>
          <p:cNvPicPr preferRelativeResize="0"/>
          <p:nvPr/>
        </p:nvPicPr>
        <p:blipFill rotWithShape="1">
          <a:blip r:embed="rId6">
            <a:alphaModFix/>
          </a:blip>
          <a:srcRect b="0" l="0" r="0" t="0"/>
          <a:stretch/>
        </p:blipFill>
        <p:spPr>
          <a:xfrm>
            <a:off x="5492850" y="3322981"/>
            <a:ext cx="3368650" cy="10035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idx="4294967295" type="title"/>
          </p:nvPr>
        </p:nvSpPr>
        <p:spPr>
          <a:xfrm>
            <a:off x="4115175" y="173670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SRD Main Overview</a:t>
            </a:r>
            <a:endParaRPr/>
          </a:p>
        </p:txBody>
      </p:sp>
      <p:sp>
        <p:nvSpPr>
          <p:cNvPr id="269" name="Google Shape;269;p42"/>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270" name="Google Shape;270;p42"/>
          <p:cNvSpPr/>
          <p:nvPr/>
        </p:nvSpPr>
        <p:spPr>
          <a:xfrm>
            <a:off x="2728200" y="790176"/>
            <a:ext cx="6459300" cy="3287400"/>
          </a:xfrm>
          <a:prstGeom prst="rect">
            <a:avLst/>
          </a:prstGeom>
          <a:solidFill>
            <a:srgbClr val="E69138"/>
          </a:solidFill>
          <a:ln>
            <a:noFill/>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271" name="Google Shape;271;p42"/>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272" name="Google Shape;272;p42"/>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Software Design &amp; Requirements</a:t>
            </a:r>
            <a:endParaRPr b="1" i="0" sz="3700" u="none" cap="none" strike="noStrike">
              <a:solidFill>
                <a:schemeClr val="lt1"/>
              </a:solidFill>
              <a:latin typeface="Lexend"/>
              <a:ea typeface="Lexend"/>
              <a:cs typeface="Lexend"/>
              <a:sym typeface="Lexend"/>
            </a:endParaRPr>
          </a:p>
        </p:txBody>
      </p:sp>
      <p:pic>
        <p:nvPicPr>
          <p:cNvPr id="273" name="Google Shape;273;p42"/>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274" name="Google Shape;274;p42"/>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275" name="Google Shape;275;p42"/>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Isaiah</a:t>
            </a:r>
            <a:endParaRPr b="0" i="0" sz="1200" u="none" cap="none" strike="noStrike">
              <a:solidFill>
                <a:schemeClr val="dk2"/>
              </a:solidFill>
              <a:latin typeface="Arial"/>
              <a:ea typeface="Arial"/>
              <a:cs typeface="Arial"/>
              <a:sym typeface="Arial"/>
            </a:endParaRPr>
          </a:p>
        </p:txBody>
      </p:sp>
      <p:sp>
        <p:nvSpPr>
          <p:cNvPr id="276" name="Google Shape;276;p42"/>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Isaiah</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43"/>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282" name="Google Shape;282;p43"/>
          <p:cNvSpPr txBox="1"/>
          <p:nvPr>
            <p:ph type="title"/>
          </p:nvPr>
        </p:nvSpPr>
        <p:spPr>
          <a:xfrm>
            <a:off x="696325" y="554800"/>
            <a:ext cx="8447700" cy="689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Functional Requirements</a:t>
            </a:r>
            <a:endParaRPr/>
          </a:p>
        </p:txBody>
      </p:sp>
      <p:sp>
        <p:nvSpPr>
          <p:cNvPr id="283" name="Google Shape;283;p43"/>
          <p:cNvSpPr txBox="1"/>
          <p:nvPr>
            <p:ph idx="1" type="body"/>
          </p:nvPr>
        </p:nvSpPr>
        <p:spPr>
          <a:xfrm>
            <a:off x="881050" y="1157150"/>
            <a:ext cx="7053600" cy="1941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Ingest raw Amber mailing-list archives, tutorials, and related documentation into pipeline</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Extract key metadata for each message</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Generate embeddings using MiniLM-L6-v2 and store them in ChromaDB’s DuckDB/Parquet backend.</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Maintain a consistent data model for reliable retrieval and RAG usage.</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Automate daily updates so new mailing-list posts or tutorials are inputted</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Provide logging and monitoring for scraping, ingestion, and indexing pipelines to ensure reliability.</a:t>
            </a:r>
            <a:endParaRPr sz="1200">
              <a:latin typeface="Arial"/>
              <a:ea typeface="Arial"/>
              <a:cs typeface="Arial"/>
              <a:sym typeface="Arial"/>
            </a:endParaRPr>
          </a:p>
        </p:txBody>
      </p:sp>
      <p:pic>
        <p:nvPicPr>
          <p:cNvPr id="284" name="Google Shape;284;p43"/>
          <p:cNvPicPr preferRelativeResize="0"/>
          <p:nvPr/>
        </p:nvPicPr>
        <p:blipFill rotWithShape="1">
          <a:blip r:embed="rId4">
            <a:alphaModFix/>
          </a:blip>
          <a:srcRect b="0" l="0" r="0" t="0"/>
          <a:stretch/>
        </p:blipFill>
        <p:spPr>
          <a:xfrm>
            <a:off x="1766655" y="3098150"/>
            <a:ext cx="5610685" cy="734775"/>
          </a:xfrm>
          <a:prstGeom prst="rect">
            <a:avLst/>
          </a:prstGeom>
          <a:noFill/>
          <a:ln>
            <a:noFill/>
          </a:ln>
        </p:spPr>
      </p:pic>
      <p:pic>
        <p:nvPicPr>
          <p:cNvPr id="285" name="Google Shape;285;p43"/>
          <p:cNvPicPr preferRelativeResize="0"/>
          <p:nvPr/>
        </p:nvPicPr>
        <p:blipFill rotWithShape="1">
          <a:blip r:embed="rId5">
            <a:alphaModFix/>
          </a:blip>
          <a:srcRect b="0" l="0" r="0" t="0"/>
          <a:stretch/>
        </p:blipFill>
        <p:spPr>
          <a:xfrm>
            <a:off x="8148775" y="494975"/>
            <a:ext cx="734775" cy="734775"/>
          </a:xfrm>
          <a:prstGeom prst="rect">
            <a:avLst/>
          </a:prstGeom>
          <a:noFill/>
          <a:ln>
            <a:noFill/>
          </a:ln>
        </p:spPr>
      </p:pic>
      <p:sp>
        <p:nvSpPr>
          <p:cNvPr id="286" name="Google Shape;286;p43"/>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Isaiah</a:t>
            </a:r>
            <a:endParaRPr b="0" i="0" sz="1200" u="none" cap="none" strike="noStrike">
              <a:solidFill>
                <a:schemeClr val="dk2"/>
              </a:solidFill>
              <a:latin typeface="Arial"/>
              <a:ea typeface="Arial"/>
              <a:cs typeface="Arial"/>
              <a:sym typeface="Arial"/>
            </a:endParaRPr>
          </a:p>
        </p:txBody>
      </p:sp>
      <p:pic>
        <p:nvPicPr>
          <p:cNvPr id="287" name="Google Shape;287;p43"/>
          <p:cNvPicPr preferRelativeResize="0"/>
          <p:nvPr/>
        </p:nvPicPr>
        <p:blipFill rotWithShape="1">
          <a:blip r:embed="rId6">
            <a:alphaModFix/>
          </a:blip>
          <a:srcRect b="0" l="0" r="0" t="0"/>
          <a:stretch/>
        </p:blipFill>
        <p:spPr>
          <a:xfrm>
            <a:off x="881062" y="4063725"/>
            <a:ext cx="1759875" cy="622950"/>
          </a:xfrm>
          <a:prstGeom prst="rect">
            <a:avLst/>
          </a:prstGeom>
          <a:noFill/>
          <a:ln>
            <a:noFill/>
          </a:ln>
        </p:spPr>
      </p:pic>
      <p:pic>
        <p:nvPicPr>
          <p:cNvPr id="288" name="Google Shape;288;p43"/>
          <p:cNvPicPr preferRelativeResize="0"/>
          <p:nvPr/>
        </p:nvPicPr>
        <p:blipFill rotWithShape="1">
          <a:blip r:embed="rId7">
            <a:alphaModFix/>
          </a:blip>
          <a:srcRect b="0" l="-12284" r="0" t="-12284"/>
          <a:stretch/>
        </p:blipFill>
        <p:spPr>
          <a:xfrm>
            <a:off x="2640937" y="4121103"/>
            <a:ext cx="1315487" cy="508195"/>
          </a:xfrm>
          <a:prstGeom prst="rect">
            <a:avLst/>
          </a:prstGeom>
          <a:noFill/>
          <a:ln>
            <a:noFill/>
          </a:ln>
        </p:spPr>
      </p:pic>
      <p:pic>
        <p:nvPicPr>
          <p:cNvPr id="289" name="Google Shape;289;p43" title="Screenshot 2025-12-03 at 9.24.52 PM.png"/>
          <p:cNvPicPr preferRelativeResize="0"/>
          <p:nvPr/>
        </p:nvPicPr>
        <p:blipFill rotWithShape="1">
          <a:blip r:embed="rId8">
            <a:alphaModFix/>
          </a:blip>
          <a:srcRect b="0" l="0" r="0" t="0"/>
          <a:stretch/>
        </p:blipFill>
        <p:spPr>
          <a:xfrm>
            <a:off x="4215100" y="4121100"/>
            <a:ext cx="1280675" cy="508200"/>
          </a:xfrm>
          <a:prstGeom prst="rect">
            <a:avLst/>
          </a:prstGeom>
          <a:noFill/>
          <a:ln>
            <a:noFill/>
          </a:ln>
        </p:spPr>
      </p:pic>
      <p:pic>
        <p:nvPicPr>
          <p:cNvPr id="290" name="Google Shape;290;p43" title="socketio_logo_icon_168806.png"/>
          <p:cNvPicPr preferRelativeResize="0"/>
          <p:nvPr/>
        </p:nvPicPr>
        <p:blipFill rotWithShape="1">
          <a:blip r:embed="rId9">
            <a:alphaModFix/>
          </a:blip>
          <a:srcRect b="0" l="0" r="0" t="0"/>
          <a:stretch/>
        </p:blipFill>
        <p:spPr>
          <a:xfrm>
            <a:off x="5754450" y="4121100"/>
            <a:ext cx="1016401" cy="508200"/>
          </a:xfrm>
          <a:prstGeom prst="rect">
            <a:avLst/>
          </a:prstGeom>
          <a:noFill/>
          <a:ln>
            <a:noFill/>
          </a:ln>
        </p:spPr>
      </p:pic>
      <p:pic>
        <p:nvPicPr>
          <p:cNvPr id="291" name="Google Shape;291;p43" title="Screenshot 2025-12-03 at 9.27.46 PM.png"/>
          <p:cNvPicPr preferRelativeResize="0"/>
          <p:nvPr/>
        </p:nvPicPr>
        <p:blipFill rotWithShape="1">
          <a:blip r:embed="rId10">
            <a:alphaModFix/>
          </a:blip>
          <a:srcRect b="0" l="0" r="0" t="0"/>
          <a:stretch/>
        </p:blipFill>
        <p:spPr>
          <a:xfrm>
            <a:off x="7029530" y="4179825"/>
            <a:ext cx="1465350" cy="39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44"/>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297" name="Google Shape;297;p44"/>
          <p:cNvSpPr txBox="1"/>
          <p:nvPr>
            <p:ph type="title"/>
          </p:nvPr>
        </p:nvSpPr>
        <p:spPr>
          <a:xfrm>
            <a:off x="695600" y="497575"/>
            <a:ext cx="35598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 Use Case Diagram</a:t>
            </a:r>
            <a:endParaRPr/>
          </a:p>
        </p:txBody>
      </p:sp>
      <p:pic>
        <p:nvPicPr>
          <p:cNvPr id="298" name="Google Shape;298;p44"/>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299" name="Google Shape;299;p44"/>
          <p:cNvSpPr txBox="1"/>
          <p:nvPr/>
        </p:nvSpPr>
        <p:spPr>
          <a:xfrm>
            <a:off x="3827063" y="4066032"/>
            <a:ext cx="1788000" cy="36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1" lang="en" sz="800" u="none" cap="none" strike="noStrike">
                <a:solidFill>
                  <a:schemeClr val="dk2"/>
                </a:solidFill>
                <a:latin typeface="Arial"/>
                <a:ea typeface="Arial"/>
                <a:cs typeface="Arial"/>
                <a:sym typeface="Arial"/>
              </a:rPr>
              <a:t>Figure: Chatbot Use Case Diagram</a:t>
            </a:r>
            <a:endParaRPr b="0" i="1" sz="800" u="none" cap="none" strike="noStrike">
              <a:solidFill>
                <a:schemeClr val="dk2"/>
              </a:solidFill>
              <a:latin typeface="Arial"/>
              <a:ea typeface="Arial"/>
              <a:cs typeface="Arial"/>
              <a:sym typeface="Arial"/>
            </a:endParaRPr>
          </a:p>
        </p:txBody>
      </p:sp>
      <p:sp>
        <p:nvSpPr>
          <p:cNvPr id="300" name="Google Shape;300;p44"/>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Gavin</a:t>
            </a:r>
            <a:endParaRPr b="0" i="0" sz="1200" u="none" cap="none" strike="noStrike">
              <a:solidFill>
                <a:schemeClr val="dk2"/>
              </a:solidFill>
              <a:latin typeface="Arial"/>
              <a:ea typeface="Arial"/>
              <a:cs typeface="Arial"/>
              <a:sym typeface="Arial"/>
            </a:endParaRPr>
          </a:p>
        </p:txBody>
      </p:sp>
      <p:pic>
        <p:nvPicPr>
          <p:cNvPr descr="A diagram of a computer&#10;&#10;AI-generated content may be incorrect." id="301" name="Google Shape;301;p44"/>
          <p:cNvPicPr preferRelativeResize="0"/>
          <p:nvPr/>
        </p:nvPicPr>
        <p:blipFill rotWithShape="1">
          <a:blip r:embed="rId5">
            <a:alphaModFix/>
          </a:blip>
          <a:srcRect b="0" l="0" r="0" t="0"/>
          <a:stretch/>
        </p:blipFill>
        <p:spPr>
          <a:xfrm>
            <a:off x="2220750" y="1528763"/>
            <a:ext cx="5000625" cy="2085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45"/>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307" name="Google Shape;307;p45"/>
          <p:cNvSpPr txBox="1"/>
          <p:nvPr>
            <p:ph type="title"/>
          </p:nvPr>
        </p:nvSpPr>
        <p:spPr>
          <a:xfrm>
            <a:off x="691600" y="544200"/>
            <a:ext cx="84525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System Architecture </a:t>
            </a:r>
            <a:endParaRPr/>
          </a:p>
        </p:txBody>
      </p:sp>
      <p:pic>
        <p:nvPicPr>
          <p:cNvPr id="308" name="Google Shape;308;p45"/>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309" name="Google Shape;309;p45"/>
          <p:cNvSpPr txBox="1"/>
          <p:nvPr/>
        </p:nvSpPr>
        <p:spPr>
          <a:xfrm>
            <a:off x="3643050" y="4601225"/>
            <a:ext cx="1857900" cy="32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1" lang="en" sz="800" u="none" cap="none" strike="noStrike">
                <a:solidFill>
                  <a:schemeClr val="dk2"/>
                </a:solidFill>
                <a:latin typeface="Arial"/>
                <a:ea typeface="Arial"/>
                <a:cs typeface="Arial"/>
                <a:sym typeface="Arial"/>
              </a:rPr>
              <a:t>Figure: Data to Application Diagram</a:t>
            </a:r>
            <a:endParaRPr b="0" i="1" sz="800" u="none" cap="none" strike="noStrike">
              <a:solidFill>
                <a:schemeClr val="dk2"/>
              </a:solidFill>
              <a:latin typeface="Arial"/>
              <a:ea typeface="Arial"/>
              <a:cs typeface="Arial"/>
              <a:sym typeface="Arial"/>
            </a:endParaRPr>
          </a:p>
        </p:txBody>
      </p:sp>
      <p:sp>
        <p:nvSpPr>
          <p:cNvPr id="310" name="Google Shape;310;p45"/>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Gavin</a:t>
            </a:r>
            <a:endParaRPr b="0" i="0" sz="1200" u="none" cap="none" strike="noStrike">
              <a:solidFill>
                <a:schemeClr val="dk2"/>
              </a:solidFill>
              <a:latin typeface="Arial"/>
              <a:ea typeface="Arial"/>
              <a:cs typeface="Arial"/>
              <a:sym typeface="Arial"/>
            </a:endParaRPr>
          </a:p>
        </p:txBody>
      </p:sp>
      <p:pic>
        <p:nvPicPr>
          <p:cNvPr descr="A diagram of a software development process&#10;&#10;AI-generated content may be incorrect." id="311" name="Google Shape;311;p45"/>
          <p:cNvPicPr preferRelativeResize="0"/>
          <p:nvPr/>
        </p:nvPicPr>
        <p:blipFill rotWithShape="1">
          <a:blip r:embed="rId5">
            <a:alphaModFix/>
          </a:blip>
          <a:srcRect b="0" l="0" r="0" t="0"/>
          <a:stretch/>
        </p:blipFill>
        <p:spPr>
          <a:xfrm>
            <a:off x="1610475" y="1179600"/>
            <a:ext cx="5923051" cy="33317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Database Team</a:t>
            </a:r>
            <a:endParaRPr/>
          </a:p>
        </p:txBody>
      </p:sp>
      <p:sp>
        <p:nvSpPr>
          <p:cNvPr id="317" name="Google Shape;317;p46"/>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318" name="Google Shape;318;p46"/>
          <p:cNvSpPr/>
          <p:nvPr/>
        </p:nvSpPr>
        <p:spPr>
          <a:xfrm>
            <a:off x="2728200" y="790176"/>
            <a:ext cx="6459300" cy="3287400"/>
          </a:xfrm>
          <a:prstGeom prst="rect">
            <a:avLst/>
          </a:prstGeom>
          <a:solidFill>
            <a:srgbClr val="F1C232"/>
          </a:solidFill>
          <a:ln>
            <a:noFill/>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319" name="Google Shape;319;p46"/>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320" name="Google Shape;320;p46"/>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Database</a:t>
            </a:r>
            <a:endParaRPr b="1" i="0" sz="3700" u="none" cap="none" strike="noStrike">
              <a:solidFill>
                <a:schemeClr val="lt1"/>
              </a:solidFill>
              <a:latin typeface="Lexend"/>
              <a:ea typeface="Lexend"/>
              <a:cs typeface="Lexend"/>
              <a:sym typeface="Lexend"/>
            </a:endParaRPr>
          </a:p>
        </p:txBody>
      </p:sp>
      <p:pic>
        <p:nvPicPr>
          <p:cNvPr id="321" name="Google Shape;321;p46"/>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322" name="Google Shape;322;p46"/>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323" name="Google Shape;323;p46"/>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Luis</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7"/>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329" name="Google Shape;329;p47"/>
          <p:cNvSpPr txBox="1"/>
          <p:nvPr>
            <p:ph type="title"/>
          </p:nvPr>
        </p:nvSpPr>
        <p:spPr>
          <a:xfrm>
            <a:off x="1113025" y="484400"/>
            <a:ext cx="40902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ChromaDB Overview</a:t>
            </a:r>
            <a:endParaRPr/>
          </a:p>
        </p:txBody>
      </p:sp>
      <p:pic>
        <p:nvPicPr>
          <p:cNvPr id="330" name="Google Shape;330;p47" title="Untitled Diagram (1).jpg"/>
          <p:cNvPicPr preferRelativeResize="0"/>
          <p:nvPr/>
        </p:nvPicPr>
        <p:blipFill rotWithShape="1">
          <a:blip r:embed="rId4">
            <a:alphaModFix/>
          </a:blip>
          <a:srcRect b="0" l="0" r="0" t="0"/>
          <a:stretch/>
        </p:blipFill>
        <p:spPr>
          <a:xfrm>
            <a:off x="2463175" y="2898550"/>
            <a:ext cx="5098276" cy="1665525"/>
          </a:xfrm>
          <a:prstGeom prst="rect">
            <a:avLst/>
          </a:prstGeom>
          <a:noFill/>
          <a:ln>
            <a:noFill/>
          </a:ln>
        </p:spPr>
      </p:pic>
      <p:sp>
        <p:nvSpPr>
          <p:cNvPr id="331" name="Google Shape;331;p47"/>
          <p:cNvSpPr txBox="1"/>
          <p:nvPr>
            <p:ph idx="2" type="body"/>
          </p:nvPr>
        </p:nvSpPr>
        <p:spPr>
          <a:xfrm>
            <a:off x="492275" y="1283125"/>
            <a:ext cx="4079700" cy="174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400"/>
              <a:buNone/>
            </a:pPr>
            <a:r>
              <a:rPr b="1" lang="en" sz="1200">
                <a:latin typeface="Arial"/>
                <a:ea typeface="Arial"/>
                <a:cs typeface="Arial"/>
                <a:sym typeface="Arial"/>
              </a:rPr>
              <a:t>ChromaDB Architecture</a:t>
            </a:r>
            <a:endParaRPr b="1"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Uses a fast “similarity search” system using vector embeddings to find related messages.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Stores everything locally on your computer in a portable database folder.</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Saves each thread’s text, its embedding, and basic info together.</a:t>
            </a:r>
            <a:endParaRPr sz="1200">
              <a:latin typeface="Arial"/>
              <a:ea typeface="Arial"/>
              <a:cs typeface="Arial"/>
              <a:sym typeface="Arial"/>
            </a:endParaRPr>
          </a:p>
        </p:txBody>
      </p:sp>
      <p:pic>
        <p:nvPicPr>
          <p:cNvPr id="332" name="Google Shape;332;p47"/>
          <p:cNvPicPr preferRelativeResize="0"/>
          <p:nvPr/>
        </p:nvPicPr>
        <p:blipFill rotWithShape="1">
          <a:blip r:embed="rId5">
            <a:alphaModFix/>
          </a:blip>
          <a:srcRect b="0" l="0" r="0" t="0"/>
          <a:stretch/>
        </p:blipFill>
        <p:spPr>
          <a:xfrm>
            <a:off x="5053867" y="445825"/>
            <a:ext cx="2012950" cy="712550"/>
          </a:xfrm>
          <a:prstGeom prst="rect">
            <a:avLst/>
          </a:prstGeom>
          <a:noFill/>
          <a:ln>
            <a:noFill/>
          </a:ln>
        </p:spPr>
      </p:pic>
      <p:pic>
        <p:nvPicPr>
          <p:cNvPr id="333" name="Google Shape;333;p47"/>
          <p:cNvPicPr preferRelativeResize="0"/>
          <p:nvPr/>
        </p:nvPicPr>
        <p:blipFill rotWithShape="1">
          <a:blip r:embed="rId6">
            <a:alphaModFix/>
          </a:blip>
          <a:srcRect b="0" l="0" r="0" t="0"/>
          <a:stretch/>
        </p:blipFill>
        <p:spPr>
          <a:xfrm>
            <a:off x="8148775" y="494975"/>
            <a:ext cx="734775" cy="734775"/>
          </a:xfrm>
          <a:prstGeom prst="rect">
            <a:avLst/>
          </a:prstGeom>
          <a:noFill/>
          <a:ln>
            <a:noFill/>
          </a:ln>
        </p:spPr>
      </p:pic>
      <p:sp>
        <p:nvSpPr>
          <p:cNvPr id="334" name="Google Shape;334;p47"/>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Luis</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8"/>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40" name="Google Shape;340;p48"/>
          <p:cNvSpPr txBox="1"/>
          <p:nvPr>
            <p:ph idx="1" type="body"/>
          </p:nvPr>
        </p:nvSpPr>
        <p:spPr>
          <a:xfrm>
            <a:off x="2400303" y="1602675"/>
            <a:ext cx="3071400" cy="3002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sp>
        <p:nvSpPr>
          <p:cNvPr id="341" name="Google Shape;341;p48"/>
          <p:cNvSpPr txBox="1"/>
          <p:nvPr>
            <p:ph idx="2" type="body"/>
          </p:nvPr>
        </p:nvSpPr>
        <p:spPr>
          <a:xfrm>
            <a:off x="5650572" y="1602675"/>
            <a:ext cx="3071400" cy="3002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t/>
            </a:r>
            <a:endParaRPr/>
          </a:p>
        </p:txBody>
      </p:sp>
      <p:pic>
        <p:nvPicPr>
          <p:cNvPr id="342" name="Google Shape;342;p48"/>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pic>
        <p:nvPicPr>
          <p:cNvPr id="343" name="Google Shape;343;p48"/>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344" name="Google Shape;344;p48"/>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Luis</a:t>
            </a:r>
            <a:endParaRPr b="0" i="0" sz="1200" u="none" cap="none" strike="noStrike">
              <a:solidFill>
                <a:schemeClr val="dk2"/>
              </a:solidFill>
              <a:latin typeface="Arial"/>
              <a:ea typeface="Arial"/>
              <a:cs typeface="Arial"/>
              <a:sym typeface="Arial"/>
            </a:endParaRPr>
          </a:p>
        </p:txBody>
      </p:sp>
      <p:sp>
        <p:nvSpPr>
          <p:cNvPr id="345" name="Google Shape;345;p48"/>
          <p:cNvSpPr txBox="1"/>
          <p:nvPr>
            <p:ph type="title"/>
          </p:nvPr>
        </p:nvSpPr>
        <p:spPr>
          <a:xfrm>
            <a:off x="1113025" y="484400"/>
            <a:ext cx="40902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Database Overview</a:t>
            </a:r>
            <a:endParaRPr/>
          </a:p>
        </p:txBody>
      </p:sp>
      <p:sp>
        <p:nvSpPr>
          <p:cNvPr id="346" name="Google Shape;346;p48"/>
          <p:cNvSpPr txBox="1"/>
          <p:nvPr>
            <p:ph idx="2" type="body"/>
          </p:nvPr>
        </p:nvSpPr>
        <p:spPr>
          <a:xfrm>
            <a:off x="480525" y="1211350"/>
            <a:ext cx="4090200" cy="192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n" sz="1200">
                <a:latin typeface="Arial"/>
                <a:ea typeface="Arial"/>
                <a:cs typeface="Arial"/>
                <a:sym typeface="Arial"/>
              </a:rPr>
              <a:t>Our Implementation</a:t>
            </a:r>
            <a:endParaRPr b="1"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Created one local ChromaDB folder for the project.</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All Amber threads go into one collection called ‘amber_messages’.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Each thread is stored as one document with text, metadata, and embedding.</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The system auto-indexes everything so searches are fast and accurate.</a:t>
            </a:r>
            <a:endParaRPr sz="1200">
              <a:latin typeface="Arial"/>
              <a:ea typeface="Arial"/>
              <a:cs typeface="Arial"/>
              <a:sym typeface="Arial"/>
            </a:endParaRPr>
          </a:p>
          <a:p>
            <a:pPr indent="0" lvl="0" marL="0" marR="0" rtl="0" algn="l">
              <a:lnSpc>
                <a:spcPct val="115000"/>
              </a:lnSpc>
              <a:spcBef>
                <a:spcPts val="1200"/>
              </a:spcBef>
              <a:spcAft>
                <a:spcPts val="1200"/>
              </a:spcAft>
              <a:buSzPts val="1400"/>
              <a:buNone/>
            </a:pPr>
            <a:r>
              <a:t/>
            </a:r>
            <a:endParaRPr sz="1200">
              <a:latin typeface="Arial"/>
              <a:ea typeface="Arial"/>
              <a:cs typeface="Arial"/>
              <a:sym typeface="Arial"/>
            </a:endParaRPr>
          </a:p>
        </p:txBody>
      </p:sp>
      <p:pic>
        <p:nvPicPr>
          <p:cNvPr id="347" name="Google Shape;347;p48" title="Screenshot 2026-04-30 144453.png"/>
          <p:cNvPicPr preferRelativeResize="0"/>
          <p:nvPr/>
        </p:nvPicPr>
        <p:blipFill rotWithShape="1">
          <a:blip r:embed="rId5">
            <a:alphaModFix/>
          </a:blip>
          <a:srcRect b="0" l="0" r="40163" t="0"/>
          <a:stretch/>
        </p:blipFill>
        <p:spPr>
          <a:xfrm>
            <a:off x="4712500" y="1317862"/>
            <a:ext cx="4009474" cy="32982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Data Scraping Team</a:t>
            </a:r>
            <a:endParaRPr/>
          </a:p>
        </p:txBody>
      </p:sp>
      <p:sp>
        <p:nvSpPr>
          <p:cNvPr id="353" name="Google Shape;353;p49"/>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354" name="Google Shape;354;p49"/>
          <p:cNvSpPr/>
          <p:nvPr/>
        </p:nvSpPr>
        <p:spPr>
          <a:xfrm>
            <a:off x="2728200" y="790176"/>
            <a:ext cx="6459300" cy="3287400"/>
          </a:xfrm>
          <a:prstGeom prst="rect">
            <a:avLst/>
          </a:prstGeom>
          <a:solidFill>
            <a:srgbClr val="6AA84F"/>
          </a:solidFill>
          <a:ln cap="flat" cmpd="sng" w="9525">
            <a:solidFill>
              <a:srgbClr val="626C2E"/>
            </a:solidFill>
            <a:prstDash val="solid"/>
            <a:miter lim="800000"/>
            <a:headEnd len="sm" w="sm" type="none"/>
            <a:tailEnd len="sm" w="sm" type="none"/>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355" name="Google Shape;355;p49"/>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356" name="Google Shape;356;p49"/>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Data Scraping</a:t>
            </a:r>
            <a:endParaRPr b="1" i="0" sz="3700" u="none" cap="none" strike="noStrike">
              <a:solidFill>
                <a:schemeClr val="lt1"/>
              </a:solidFill>
              <a:latin typeface="Lexend"/>
              <a:ea typeface="Lexend"/>
              <a:cs typeface="Lexend"/>
              <a:sym typeface="Lexend"/>
            </a:endParaRPr>
          </a:p>
        </p:txBody>
      </p:sp>
      <p:pic>
        <p:nvPicPr>
          <p:cNvPr id="357" name="Google Shape;357;p49"/>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358" name="Google Shape;358;p49"/>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359" name="Google Shape;359;p49"/>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Luciano </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pic>
        <p:nvPicPr>
          <p:cNvPr id="364" name="Google Shape;364;p50"/>
          <p:cNvPicPr preferRelativeResize="0"/>
          <p:nvPr/>
        </p:nvPicPr>
        <p:blipFill rotWithShape="1">
          <a:blip r:embed="rId4">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365" name="Google Shape;365;p50"/>
          <p:cNvSpPr txBox="1"/>
          <p:nvPr>
            <p:ph type="title"/>
          </p:nvPr>
        </p:nvSpPr>
        <p:spPr>
          <a:xfrm>
            <a:off x="664600" y="618275"/>
            <a:ext cx="73755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Scraper Scripts → JSON Parsing &amp; Merging</a:t>
            </a:r>
            <a:endParaRPr/>
          </a:p>
        </p:txBody>
      </p:sp>
      <p:sp>
        <p:nvSpPr>
          <p:cNvPr id="366" name="Google Shape;366;p50"/>
          <p:cNvSpPr txBox="1"/>
          <p:nvPr>
            <p:ph idx="1" type="body"/>
          </p:nvPr>
        </p:nvSpPr>
        <p:spPr>
          <a:xfrm>
            <a:off x="458925" y="1456650"/>
            <a:ext cx="4128300" cy="1790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Scripts download individual Amber mailing-list pages and save the raw HTML locally.</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Each page is parsed into a clean, consistent, and semi-structured JSON record for easier processing.</a:t>
            </a:r>
            <a:endParaRPr sz="1200">
              <a:latin typeface="Arial"/>
              <a:ea typeface="Arial"/>
              <a:cs typeface="Arial"/>
              <a:sym typeface="Arial"/>
            </a:endParaRPr>
          </a:p>
          <a:p>
            <a:pPr indent="0" lvl="0" marL="457200" rtl="0" algn="l">
              <a:lnSpc>
                <a:spcPct val="115000"/>
              </a:lnSpc>
              <a:spcBef>
                <a:spcPts val="1200"/>
              </a:spcBef>
              <a:spcAft>
                <a:spcPts val="0"/>
              </a:spcAft>
              <a:buSzPts val="1400"/>
              <a:buNone/>
            </a:pPr>
            <a:br>
              <a:rPr lang="en" sz="1200">
                <a:latin typeface="Arial"/>
                <a:ea typeface="Arial"/>
                <a:cs typeface="Arial"/>
                <a:sym typeface="Arial"/>
              </a:rPr>
            </a:br>
            <a:endParaRPr sz="12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200">
              <a:latin typeface="Arial"/>
              <a:ea typeface="Arial"/>
              <a:cs typeface="Arial"/>
              <a:sym typeface="Arial"/>
            </a:endParaRPr>
          </a:p>
        </p:txBody>
      </p:sp>
      <p:pic>
        <p:nvPicPr>
          <p:cNvPr id="367" name="Google Shape;367;p50"/>
          <p:cNvPicPr preferRelativeResize="0"/>
          <p:nvPr/>
        </p:nvPicPr>
        <p:blipFill rotWithShape="1">
          <a:blip r:embed="rId5">
            <a:alphaModFix/>
          </a:blip>
          <a:srcRect b="0" l="0" r="0" t="0"/>
          <a:stretch/>
        </p:blipFill>
        <p:spPr>
          <a:xfrm>
            <a:off x="8148775" y="494975"/>
            <a:ext cx="734775" cy="734775"/>
          </a:xfrm>
          <a:prstGeom prst="rect">
            <a:avLst/>
          </a:prstGeom>
          <a:noFill/>
          <a:ln>
            <a:noFill/>
          </a:ln>
        </p:spPr>
      </p:pic>
      <p:sp>
        <p:nvSpPr>
          <p:cNvPr id="368" name="Google Shape;368;p50"/>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Luciano </a:t>
            </a:r>
            <a:endParaRPr b="0" i="0" sz="1200" u="none" cap="none" strike="noStrike">
              <a:solidFill>
                <a:schemeClr val="dk2"/>
              </a:solidFill>
              <a:latin typeface="Arial"/>
              <a:ea typeface="Arial"/>
              <a:cs typeface="Arial"/>
              <a:sym typeface="Arial"/>
            </a:endParaRPr>
          </a:p>
        </p:txBody>
      </p:sp>
      <p:sp>
        <p:nvSpPr>
          <p:cNvPr id="369" name="Google Shape;369;p50"/>
          <p:cNvSpPr txBox="1"/>
          <p:nvPr>
            <p:ph idx="1" type="body"/>
          </p:nvPr>
        </p:nvSpPr>
        <p:spPr>
          <a:xfrm>
            <a:off x="4572000" y="1456650"/>
            <a:ext cx="4572000" cy="1790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Combines all individual message JSON files into a single JSON file per thread.</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Unique numeric IDs using UUID so threads stay consistent, sortable, and easy to reference.</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Reduces duplication and ensures metadata stays consistent across the entire thread.</a:t>
            </a:r>
            <a:endParaRPr sz="12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200">
              <a:latin typeface="Arial"/>
              <a:ea typeface="Arial"/>
              <a:cs typeface="Arial"/>
              <a:sym typeface="Arial"/>
            </a:endParaRPr>
          </a:p>
        </p:txBody>
      </p:sp>
      <p:pic>
        <p:nvPicPr>
          <p:cNvPr id="370" name="Google Shape;370;p50"/>
          <p:cNvPicPr preferRelativeResize="0"/>
          <p:nvPr/>
        </p:nvPicPr>
        <p:blipFill rotWithShape="1">
          <a:blip r:embed="rId6">
            <a:alphaModFix/>
          </a:blip>
          <a:srcRect b="0" l="0" r="0" t="0"/>
          <a:stretch/>
        </p:blipFill>
        <p:spPr>
          <a:xfrm>
            <a:off x="4938412" y="3515501"/>
            <a:ext cx="3839175" cy="1012050"/>
          </a:xfrm>
          <a:prstGeom prst="rect">
            <a:avLst/>
          </a:prstGeom>
          <a:noFill/>
          <a:ln>
            <a:noFill/>
          </a:ln>
        </p:spPr>
      </p:pic>
      <p:pic>
        <p:nvPicPr>
          <p:cNvPr id="371" name="Google Shape;371;p50"/>
          <p:cNvPicPr preferRelativeResize="0"/>
          <p:nvPr/>
        </p:nvPicPr>
        <p:blipFill rotWithShape="1">
          <a:blip r:embed="rId7">
            <a:alphaModFix/>
          </a:blip>
          <a:srcRect b="0" l="0" r="0" t="0"/>
          <a:stretch/>
        </p:blipFill>
        <p:spPr>
          <a:xfrm>
            <a:off x="1510425" y="2499600"/>
            <a:ext cx="2025300" cy="2568524"/>
          </a:xfrm>
          <a:prstGeom prst="rect">
            <a:avLst/>
          </a:prstGeom>
          <a:solidFill>
            <a:srgbClr val="626C2E"/>
          </a:solidFill>
          <a:ln cap="flat" cmpd="sng" w="9525">
            <a:solidFill>
              <a:srgbClr val="626C2E"/>
            </a:solidFill>
            <a:prstDash val="solid"/>
            <a:miter lim="8000"/>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51"/>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377" name="Google Shape;377;p51"/>
          <p:cNvSpPr txBox="1"/>
          <p:nvPr>
            <p:ph type="title"/>
          </p:nvPr>
        </p:nvSpPr>
        <p:spPr>
          <a:xfrm>
            <a:off x="664600" y="618275"/>
            <a:ext cx="73755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Tutorial Scraper Scripts</a:t>
            </a:r>
            <a:endParaRPr/>
          </a:p>
        </p:txBody>
      </p:sp>
      <p:sp>
        <p:nvSpPr>
          <p:cNvPr id="378" name="Google Shape;378;p51"/>
          <p:cNvSpPr txBox="1"/>
          <p:nvPr>
            <p:ph idx="1" type="body"/>
          </p:nvPr>
        </p:nvSpPr>
        <p:spPr>
          <a:xfrm>
            <a:off x="458925" y="1456650"/>
            <a:ext cx="4128300" cy="1790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Scripts download relevant information in the online Amber Tutorials webpage using BeautifulSoup.</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Filters out each non-valid page before assigning webpage to a queue. </a:t>
            </a:r>
            <a:endParaRPr sz="1200">
              <a:latin typeface="Arial"/>
              <a:ea typeface="Arial"/>
              <a:cs typeface="Arial"/>
              <a:sym typeface="Arial"/>
            </a:endParaRPr>
          </a:p>
          <a:p>
            <a:pPr indent="0" lvl="0" marL="457200" rtl="0" algn="l">
              <a:lnSpc>
                <a:spcPct val="115000"/>
              </a:lnSpc>
              <a:spcBef>
                <a:spcPts val="1200"/>
              </a:spcBef>
              <a:spcAft>
                <a:spcPts val="0"/>
              </a:spcAft>
              <a:buSzPts val="1400"/>
              <a:buNone/>
            </a:pPr>
            <a:r>
              <a:t/>
            </a:r>
            <a:endParaRPr sz="12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200">
              <a:latin typeface="Arial"/>
              <a:ea typeface="Arial"/>
              <a:cs typeface="Arial"/>
              <a:sym typeface="Arial"/>
            </a:endParaRPr>
          </a:p>
        </p:txBody>
      </p:sp>
      <p:pic>
        <p:nvPicPr>
          <p:cNvPr id="379" name="Google Shape;379;p51"/>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380" name="Google Shape;380;p51"/>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Luciano </a:t>
            </a:r>
            <a:endParaRPr b="0" i="0" sz="1200" u="none" cap="none" strike="noStrike">
              <a:solidFill>
                <a:schemeClr val="dk2"/>
              </a:solidFill>
              <a:latin typeface="Arial"/>
              <a:ea typeface="Arial"/>
              <a:cs typeface="Arial"/>
              <a:sym typeface="Arial"/>
            </a:endParaRPr>
          </a:p>
        </p:txBody>
      </p:sp>
      <p:sp>
        <p:nvSpPr>
          <p:cNvPr id="381" name="Google Shape;381;p51"/>
          <p:cNvSpPr txBox="1"/>
          <p:nvPr>
            <p:ph idx="1" type="body"/>
          </p:nvPr>
        </p:nvSpPr>
        <p:spPr>
          <a:xfrm>
            <a:off x="4572000" y="1456650"/>
            <a:ext cx="4572000" cy="17901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Filters out and strips irrelevant navigational elements and HTML tags before extracting text</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Tracks Visited URLs to avoid redundant and duplicate data collection</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Similarly to the Mail Archives, UUID is used for unique numeric IDs. to stay consistent with prior metadata use</a:t>
            </a:r>
            <a:endParaRPr sz="1200">
              <a:latin typeface="Arial"/>
              <a:ea typeface="Arial"/>
              <a:cs typeface="Arial"/>
              <a:sym typeface="Arial"/>
            </a:endParaRPr>
          </a:p>
          <a:p>
            <a:pPr indent="0" lvl="0" marL="914400" rtl="0" algn="l">
              <a:lnSpc>
                <a:spcPct val="115000"/>
              </a:lnSpc>
              <a:spcBef>
                <a:spcPts val="1200"/>
              </a:spcBef>
              <a:spcAft>
                <a:spcPts val="0"/>
              </a:spcAft>
              <a:buSzPts val="1400"/>
              <a:buNone/>
            </a:pPr>
            <a:r>
              <a:t/>
            </a:r>
            <a:endParaRPr sz="12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200">
              <a:latin typeface="Arial"/>
              <a:ea typeface="Arial"/>
              <a:cs typeface="Arial"/>
              <a:sym typeface="Arial"/>
            </a:endParaRPr>
          </a:p>
        </p:txBody>
      </p:sp>
      <p:pic>
        <p:nvPicPr>
          <p:cNvPr id="382" name="Google Shape;382;p51" title="Screenshot 2026-04-30 131357.png"/>
          <p:cNvPicPr preferRelativeResize="0"/>
          <p:nvPr/>
        </p:nvPicPr>
        <p:blipFill rotWithShape="1">
          <a:blip r:embed="rId5">
            <a:alphaModFix/>
          </a:blip>
          <a:srcRect b="0" l="0" r="0" t="0"/>
          <a:stretch/>
        </p:blipFill>
        <p:spPr>
          <a:xfrm>
            <a:off x="757868" y="2885001"/>
            <a:ext cx="3530418" cy="1896750"/>
          </a:xfrm>
          <a:prstGeom prst="rect">
            <a:avLst/>
          </a:prstGeom>
          <a:solidFill>
            <a:srgbClr val="626C2E"/>
          </a:solidFill>
          <a:ln cap="flat" cmpd="sng" w="9525">
            <a:solidFill>
              <a:srgbClr val="626C2E"/>
            </a:solidFill>
            <a:prstDash val="solid"/>
            <a:miter lim="8000"/>
            <a:headEnd len="sm" w="sm" type="none"/>
            <a:tailEnd len="sm" w="sm" type="none"/>
          </a:ln>
        </p:spPr>
      </p:pic>
      <p:pic>
        <p:nvPicPr>
          <p:cNvPr id="383" name="Google Shape;383;p51"/>
          <p:cNvPicPr preferRelativeResize="0"/>
          <p:nvPr/>
        </p:nvPicPr>
        <p:blipFill rotWithShape="1">
          <a:blip r:embed="rId6">
            <a:alphaModFix/>
          </a:blip>
          <a:srcRect b="0" l="0" r="0" t="0"/>
          <a:stretch/>
        </p:blipFill>
        <p:spPr>
          <a:xfrm>
            <a:off x="5217399" y="2980287"/>
            <a:ext cx="2931375" cy="1706187"/>
          </a:xfrm>
          <a:prstGeom prst="rect">
            <a:avLst/>
          </a:prstGeom>
          <a:solidFill>
            <a:srgbClr val="626C2E"/>
          </a:solidFill>
          <a:ln cap="flat" cmpd="sng" w="9525">
            <a:solidFill>
              <a:srgbClr val="626C2E"/>
            </a:solidFill>
            <a:prstDash val="solid"/>
            <a:miter lim="8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52"/>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389" name="Google Shape;389;p52"/>
          <p:cNvSpPr txBox="1"/>
          <p:nvPr>
            <p:ph type="title"/>
          </p:nvPr>
        </p:nvSpPr>
        <p:spPr>
          <a:xfrm>
            <a:off x="717500" y="597125"/>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Workflow using Airflow </a:t>
            </a:r>
            <a:endParaRPr/>
          </a:p>
        </p:txBody>
      </p:sp>
      <p:sp>
        <p:nvSpPr>
          <p:cNvPr id="390" name="Google Shape;390;p52"/>
          <p:cNvSpPr txBox="1"/>
          <p:nvPr>
            <p:ph idx="1" type="body"/>
          </p:nvPr>
        </p:nvSpPr>
        <p:spPr>
          <a:xfrm>
            <a:off x="4571900" y="1474975"/>
            <a:ext cx="4572000" cy="179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400"/>
              </a:spcBef>
              <a:spcAft>
                <a:spcPts val="0"/>
              </a:spcAft>
              <a:buSzPts val="1400"/>
              <a:buNone/>
            </a:pPr>
            <a:r>
              <a:rPr b="1" lang="en" sz="1200">
                <a:latin typeface="Arial"/>
                <a:ea typeface="Arial"/>
                <a:cs typeface="Arial"/>
                <a:sym typeface="Arial"/>
              </a:rPr>
              <a:t>Our Usage</a:t>
            </a:r>
            <a:endParaRPr b="1"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Runs our “Schedule and Automata” pipeline that downloads, cleans, and stores new data.</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Ensures the scraper runs once every 24 hours.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Lets us track task status, failures, and logs in real time.</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Can easily expand later to manage more pipeline steps.</a:t>
            </a:r>
            <a:endParaRPr b="1" sz="1200">
              <a:latin typeface="Arial"/>
              <a:ea typeface="Arial"/>
              <a:cs typeface="Arial"/>
              <a:sym typeface="Arial"/>
            </a:endParaRPr>
          </a:p>
        </p:txBody>
      </p:sp>
      <p:sp>
        <p:nvSpPr>
          <p:cNvPr id="391" name="Google Shape;391;p52"/>
          <p:cNvSpPr txBox="1"/>
          <p:nvPr>
            <p:ph idx="1" type="body"/>
          </p:nvPr>
        </p:nvSpPr>
        <p:spPr>
          <a:xfrm>
            <a:off x="493100" y="1479925"/>
            <a:ext cx="4078800" cy="179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b="1" lang="en" sz="1200">
                <a:latin typeface="Arial"/>
                <a:ea typeface="Arial"/>
                <a:cs typeface="Arial"/>
                <a:sym typeface="Arial"/>
              </a:rPr>
              <a:t>Airflow Background</a:t>
            </a:r>
            <a:endParaRPr b="1"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Airflow automates and schedules multi-step data pipelines.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Runs tasks on a fixed schedule (hourly, daily, etc.) and handles failures and retries automatically.</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Includes a web dashboard to monitor runs, logs, and issues.</a:t>
            </a:r>
            <a:endParaRPr b="1" sz="1200">
              <a:latin typeface="Arial"/>
              <a:ea typeface="Arial"/>
              <a:cs typeface="Arial"/>
              <a:sym typeface="Arial"/>
            </a:endParaRPr>
          </a:p>
        </p:txBody>
      </p:sp>
      <p:pic>
        <p:nvPicPr>
          <p:cNvPr id="392" name="Google Shape;392;p52"/>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pic>
        <p:nvPicPr>
          <p:cNvPr id="393" name="Google Shape;393;p52"/>
          <p:cNvPicPr preferRelativeResize="0"/>
          <p:nvPr/>
        </p:nvPicPr>
        <p:blipFill rotWithShape="1">
          <a:blip r:embed="rId5">
            <a:alphaModFix/>
          </a:blip>
          <a:srcRect b="0" l="-12284" r="0" t="-12284"/>
          <a:stretch/>
        </p:blipFill>
        <p:spPr>
          <a:xfrm>
            <a:off x="5707124" y="597125"/>
            <a:ext cx="1644768" cy="635400"/>
          </a:xfrm>
          <a:prstGeom prst="rect">
            <a:avLst/>
          </a:prstGeom>
          <a:noFill/>
          <a:ln>
            <a:noFill/>
          </a:ln>
        </p:spPr>
      </p:pic>
      <p:sp>
        <p:nvSpPr>
          <p:cNvPr id="394" name="Google Shape;394;p52"/>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Alejandro</a:t>
            </a:r>
            <a:endParaRPr b="0" i="0" sz="1200" u="none" cap="none" strike="noStrike">
              <a:solidFill>
                <a:schemeClr val="dk2"/>
              </a:solidFill>
              <a:latin typeface="Arial"/>
              <a:ea typeface="Arial"/>
              <a:cs typeface="Arial"/>
              <a:sym typeface="Arial"/>
            </a:endParaRPr>
          </a:p>
        </p:txBody>
      </p:sp>
      <p:pic>
        <p:nvPicPr>
          <p:cNvPr id="395" name="Google Shape;395;p52"/>
          <p:cNvPicPr preferRelativeResize="0"/>
          <p:nvPr/>
        </p:nvPicPr>
        <p:blipFill rotWithShape="1">
          <a:blip r:embed="rId6">
            <a:alphaModFix/>
          </a:blip>
          <a:srcRect b="32125" l="0" r="0" t="0"/>
          <a:stretch/>
        </p:blipFill>
        <p:spPr>
          <a:xfrm>
            <a:off x="820250" y="3340200"/>
            <a:ext cx="6321602" cy="1689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3"/>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RAG Team</a:t>
            </a:r>
            <a:endParaRPr/>
          </a:p>
        </p:txBody>
      </p:sp>
      <p:sp>
        <p:nvSpPr>
          <p:cNvPr id="401" name="Google Shape;401;p53"/>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402" name="Google Shape;402;p53"/>
          <p:cNvSpPr/>
          <p:nvPr/>
        </p:nvSpPr>
        <p:spPr>
          <a:xfrm>
            <a:off x="2728200" y="790176"/>
            <a:ext cx="6459300" cy="3287400"/>
          </a:xfrm>
          <a:prstGeom prst="rect">
            <a:avLst/>
          </a:prstGeom>
          <a:solidFill>
            <a:schemeClr val="accent4"/>
          </a:solidFill>
          <a:ln cap="flat" cmpd="sng" w="9525">
            <a:solidFill>
              <a:srgbClr val="626C2E"/>
            </a:solidFill>
            <a:prstDash val="solid"/>
            <a:miter lim="800000"/>
            <a:headEnd len="sm" w="sm" type="none"/>
            <a:tailEnd len="sm" w="sm" type="none"/>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403" name="Google Shape;403;p53"/>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404" name="Google Shape;404;p53"/>
          <p:cNvSpPr txBox="1"/>
          <p:nvPr/>
        </p:nvSpPr>
        <p:spPr>
          <a:xfrm>
            <a:off x="3391338" y="155370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Retrieval-Augmented Generation (RAG)</a:t>
            </a:r>
            <a:endParaRPr b="1" i="0" sz="3700" u="none" cap="none" strike="noStrike">
              <a:solidFill>
                <a:schemeClr val="lt1"/>
              </a:solidFill>
              <a:latin typeface="Lexend"/>
              <a:ea typeface="Lexend"/>
              <a:cs typeface="Lexend"/>
              <a:sym typeface="Lexend"/>
            </a:endParaRPr>
          </a:p>
        </p:txBody>
      </p:sp>
      <p:pic>
        <p:nvPicPr>
          <p:cNvPr id="405" name="Google Shape;405;p53"/>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406" name="Google Shape;406;p53"/>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407" name="Google Shape;407;p53"/>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Ira</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54"/>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413" name="Google Shape;413;p54"/>
          <p:cNvSpPr txBox="1"/>
          <p:nvPr>
            <p:ph type="title"/>
          </p:nvPr>
        </p:nvSpPr>
        <p:spPr>
          <a:xfrm>
            <a:off x="794625" y="533525"/>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Benefits of RAG + Models Used</a:t>
            </a:r>
            <a:endParaRPr/>
          </a:p>
        </p:txBody>
      </p:sp>
      <p:sp>
        <p:nvSpPr>
          <p:cNvPr id="414" name="Google Shape;414;p54"/>
          <p:cNvSpPr txBox="1"/>
          <p:nvPr>
            <p:ph idx="1" type="body"/>
          </p:nvPr>
        </p:nvSpPr>
        <p:spPr>
          <a:xfrm>
            <a:off x="508500" y="2838875"/>
            <a:ext cx="4063500" cy="15483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Arial"/>
              <a:buChar char="●"/>
            </a:pPr>
            <a:r>
              <a:rPr b="1" lang="en" sz="1200">
                <a:latin typeface="Arial"/>
                <a:ea typeface="Arial"/>
                <a:cs typeface="Arial"/>
                <a:sym typeface="Arial"/>
              </a:rPr>
              <a:t>Embedding:</a:t>
            </a:r>
            <a:r>
              <a:rPr lang="en" sz="1200">
                <a:latin typeface="Arial"/>
                <a:ea typeface="Arial"/>
                <a:cs typeface="Arial"/>
                <a:sym typeface="Arial"/>
              </a:rPr>
              <a:t> all-MiniLM-L6-v2</a:t>
            </a:r>
            <a:endParaRPr sz="1200">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Easy integration</a:t>
            </a:r>
            <a:endParaRPr>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Fast performance despite being a smaller model</a:t>
            </a:r>
            <a:endParaRPr>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Low memory, suitable for local deployment</a:t>
            </a:r>
            <a:endParaRPr>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b="1" lang="en" sz="1200">
                <a:latin typeface="Arial"/>
                <a:ea typeface="Arial"/>
                <a:cs typeface="Arial"/>
                <a:sym typeface="Arial"/>
              </a:rPr>
              <a:t>LLMs: </a:t>
            </a:r>
            <a:r>
              <a:rPr lang="en" sz="1200">
                <a:latin typeface="Arial"/>
                <a:ea typeface="Arial"/>
                <a:cs typeface="Arial"/>
                <a:sym typeface="Arial"/>
              </a:rPr>
              <a:t> Ollama + Llama3</a:t>
            </a:r>
            <a:endParaRPr sz="1200">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Previously: google/flan-t5-large</a:t>
            </a:r>
            <a:endParaRPr sz="1200">
              <a:latin typeface="Arial"/>
              <a:ea typeface="Arial"/>
              <a:cs typeface="Arial"/>
              <a:sym typeface="Arial"/>
            </a:endParaRPr>
          </a:p>
        </p:txBody>
      </p:sp>
      <p:pic>
        <p:nvPicPr>
          <p:cNvPr id="415" name="Google Shape;415;p54"/>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416" name="Google Shape;416;p54"/>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Ira</a:t>
            </a:r>
            <a:endParaRPr b="0" i="0" sz="1200" u="none" cap="none" strike="noStrike">
              <a:solidFill>
                <a:schemeClr val="dk2"/>
              </a:solidFill>
              <a:latin typeface="Arial"/>
              <a:ea typeface="Arial"/>
              <a:cs typeface="Arial"/>
              <a:sym typeface="Arial"/>
            </a:endParaRPr>
          </a:p>
        </p:txBody>
      </p:sp>
      <p:pic>
        <p:nvPicPr>
          <p:cNvPr id="417" name="Google Shape;417;p54"/>
          <p:cNvPicPr preferRelativeResize="0"/>
          <p:nvPr/>
        </p:nvPicPr>
        <p:blipFill rotWithShape="1">
          <a:blip r:embed="rId5">
            <a:alphaModFix/>
          </a:blip>
          <a:srcRect b="0" l="0" r="0" t="0"/>
          <a:stretch/>
        </p:blipFill>
        <p:spPr>
          <a:xfrm>
            <a:off x="6040096" y="3990565"/>
            <a:ext cx="1635800" cy="564350"/>
          </a:xfrm>
          <a:prstGeom prst="rect">
            <a:avLst/>
          </a:prstGeom>
          <a:noFill/>
          <a:ln>
            <a:noFill/>
          </a:ln>
        </p:spPr>
      </p:pic>
      <p:sp>
        <p:nvSpPr>
          <p:cNvPr id="418" name="Google Shape;418;p54"/>
          <p:cNvSpPr txBox="1"/>
          <p:nvPr>
            <p:ph idx="1" type="body"/>
          </p:nvPr>
        </p:nvSpPr>
        <p:spPr>
          <a:xfrm>
            <a:off x="4572000" y="2838875"/>
            <a:ext cx="4572000" cy="98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200">
                <a:latin typeface="Arial"/>
                <a:ea typeface="Arial"/>
                <a:cs typeface="Arial"/>
                <a:sym typeface="Arial"/>
              </a:rPr>
              <a:t>Reasons for change:</a:t>
            </a:r>
            <a:endParaRPr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Ollama allows easy setup for running LLM models locally.</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Also allows fine-tuning by being able to change weights</a:t>
            </a:r>
            <a:endParaRPr>
              <a:latin typeface="Arial"/>
              <a:ea typeface="Arial"/>
              <a:cs typeface="Arial"/>
              <a:sym typeface="Arial"/>
            </a:endParaRPr>
          </a:p>
        </p:txBody>
      </p:sp>
      <p:pic>
        <p:nvPicPr>
          <p:cNvPr id="419" name="Google Shape;419;p54" title="Blank diagram (1).png"/>
          <p:cNvPicPr preferRelativeResize="0"/>
          <p:nvPr/>
        </p:nvPicPr>
        <p:blipFill rotWithShape="1">
          <a:blip r:embed="rId6">
            <a:alphaModFix/>
          </a:blip>
          <a:srcRect b="0" l="0" r="0" t="0"/>
          <a:stretch/>
        </p:blipFill>
        <p:spPr>
          <a:xfrm>
            <a:off x="1525438" y="1229747"/>
            <a:ext cx="6093114" cy="1548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55"/>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425" name="Google Shape;425;p55"/>
          <p:cNvSpPr txBox="1"/>
          <p:nvPr>
            <p:ph type="title"/>
          </p:nvPr>
        </p:nvSpPr>
        <p:spPr>
          <a:xfrm>
            <a:off x="794625" y="533525"/>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Fine-tuning</a:t>
            </a:r>
            <a:endParaRPr/>
          </a:p>
        </p:txBody>
      </p:sp>
      <p:sp>
        <p:nvSpPr>
          <p:cNvPr id="426" name="Google Shape;426;p55"/>
          <p:cNvSpPr txBox="1"/>
          <p:nvPr>
            <p:ph idx="1" type="body"/>
          </p:nvPr>
        </p:nvSpPr>
        <p:spPr>
          <a:xfrm>
            <a:off x="794625" y="1362775"/>
            <a:ext cx="4531200" cy="1456200"/>
          </a:xfrm>
          <a:prstGeom prst="rect">
            <a:avLst/>
          </a:prstGeom>
          <a:noFill/>
          <a:ln>
            <a:noFill/>
          </a:ln>
        </p:spPr>
        <p:txBody>
          <a:bodyPr anchorCtr="0" anchor="t" bIns="91425" lIns="91425" spcFirstLastPara="1" rIns="91425" wrap="square" tIns="91425">
            <a:normAutofit/>
          </a:bodyPr>
          <a:lstStyle/>
          <a:p>
            <a:pPr indent="-305435" lvl="0" marL="457200" rtl="0" algn="l">
              <a:lnSpc>
                <a:spcPct val="115000"/>
              </a:lnSpc>
              <a:spcBef>
                <a:spcPts val="0"/>
              </a:spcBef>
              <a:spcAft>
                <a:spcPts val="0"/>
              </a:spcAft>
              <a:buSzPts val="1210"/>
              <a:buFont typeface="Arial"/>
              <a:buChar char="●"/>
            </a:pPr>
            <a:r>
              <a:rPr lang="en" sz="1200">
                <a:latin typeface="Arial"/>
                <a:ea typeface="Arial"/>
                <a:cs typeface="Arial"/>
                <a:sym typeface="Arial"/>
              </a:rPr>
              <a:t>Fine-tuned the LLM to produce more accurate and context-aware responses</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Applied similarity threshold weights for each type of source retrieved from the database</a:t>
            </a:r>
            <a:endParaRPr sz="1200">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Improves the relevance and reliability of the results</a:t>
            </a:r>
            <a:endParaRPr>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Reduces hallucination</a:t>
            </a:r>
            <a:endParaRPr>
              <a:latin typeface="Arial"/>
              <a:ea typeface="Arial"/>
              <a:cs typeface="Arial"/>
              <a:sym typeface="Arial"/>
            </a:endParaRPr>
          </a:p>
        </p:txBody>
      </p:sp>
      <p:pic>
        <p:nvPicPr>
          <p:cNvPr id="427" name="Google Shape;427;p55"/>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428" name="Google Shape;428;p55"/>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Ben</a:t>
            </a:r>
            <a:endParaRPr b="0" i="0" sz="1200" u="none" cap="none" strike="noStrike">
              <a:solidFill>
                <a:schemeClr val="dk2"/>
              </a:solidFill>
              <a:latin typeface="Arial"/>
              <a:ea typeface="Arial"/>
              <a:cs typeface="Arial"/>
              <a:sym typeface="Arial"/>
            </a:endParaRPr>
          </a:p>
        </p:txBody>
      </p:sp>
      <p:sp>
        <p:nvSpPr>
          <p:cNvPr id="429" name="Google Shape;429;p55"/>
          <p:cNvSpPr txBox="1"/>
          <p:nvPr>
            <p:ph idx="1" type="body"/>
          </p:nvPr>
        </p:nvSpPr>
        <p:spPr>
          <a:xfrm>
            <a:off x="794625" y="3176700"/>
            <a:ext cx="4531200" cy="1704600"/>
          </a:xfrm>
          <a:prstGeom prst="rect">
            <a:avLst/>
          </a:prstGeom>
          <a:noFill/>
          <a:ln>
            <a:noFill/>
          </a:ln>
        </p:spPr>
        <p:txBody>
          <a:bodyPr anchorCtr="0" anchor="t" bIns="91425" lIns="91425" spcFirstLastPara="1" rIns="91425" wrap="square" tIns="91425">
            <a:normAutofit/>
          </a:bodyPr>
          <a:lstStyle/>
          <a:p>
            <a:pPr indent="-305435" lvl="0" marL="457200" rtl="0" algn="l">
              <a:lnSpc>
                <a:spcPct val="115000"/>
              </a:lnSpc>
              <a:spcBef>
                <a:spcPts val="0"/>
              </a:spcBef>
              <a:spcAft>
                <a:spcPts val="0"/>
              </a:spcAft>
              <a:buSzPts val="1210"/>
              <a:buFont typeface="Arial"/>
              <a:buChar char="●"/>
            </a:pPr>
            <a:r>
              <a:rPr lang="en" sz="1200">
                <a:latin typeface="Arial"/>
                <a:ea typeface="Arial"/>
                <a:cs typeface="Arial"/>
                <a:sym typeface="Arial"/>
              </a:rPr>
              <a:t>Ran tests with various prompts</a:t>
            </a:r>
            <a:endParaRPr sz="1200">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Different rules/instructions</a:t>
            </a:r>
            <a:endParaRPr>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Specified output formatting</a:t>
            </a:r>
            <a:endParaRPr>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Changed threshold weight values for retrieving documents</a:t>
            </a:r>
            <a:endParaRPr sz="1200">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Higher threshold weight = strict</a:t>
            </a:r>
            <a:endParaRPr>
              <a:latin typeface="Arial"/>
              <a:ea typeface="Arial"/>
              <a:cs typeface="Arial"/>
              <a:sym typeface="Arial"/>
            </a:endParaRPr>
          </a:p>
          <a:p>
            <a:pPr indent="-304800" lvl="1" marL="914400" rtl="0" algn="l">
              <a:lnSpc>
                <a:spcPct val="115000"/>
              </a:lnSpc>
              <a:spcBef>
                <a:spcPts val="0"/>
              </a:spcBef>
              <a:spcAft>
                <a:spcPts val="0"/>
              </a:spcAft>
              <a:buSzPts val="1200"/>
              <a:buFont typeface="Arial"/>
              <a:buChar char="○"/>
            </a:pPr>
            <a:r>
              <a:rPr lang="en">
                <a:latin typeface="Arial"/>
                <a:ea typeface="Arial"/>
                <a:cs typeface="Arial"/>
                <a:sym typeface="Arial"/>
              </a:rPr>
              <a:t>Lower threshold weight = less strict</a:t>
            </a:r>
            <a:endParaRPr>
              <a:latin typeface="Arial"/>
              <a:ea typeface="Arial"/>
              <a:cs typeface="Arial"/>
              <a:sym typeface="Arial"/>
            </a:endParaRPr>
          </a:p>
        </p:txBody>
      </p:sp>
      <p:pic>
        <p:nvPicPr>
          <p:cNvPr id="430" name="Google Shape;430;p55"/>
          <p:cNvPicPr preferRelativeResize="0"/>
          <p:nvPr/>
        </p:nvPicPr>
        <p:blipFill rotWithShape="1">
          <a:blip r:embed="rId5">
            <a:alphaModFix/>
          </a:blip>
          <a:srcRect b="0" l="0" r="0" t="0"/>
          <a:stretch/>
        </p:blipFill>
        <p:spPr>
          <a:xfrm>
            <a:off x="5521775" y="4262454"/>
            <a:ext cx="3236850" cy="372683"/>
          </a:xfrm>
          <a:prstGeom prst="rect">
            <a:avLst/>
          </a:prstGeom>
          <a:noFill/>
          <a:ln>
            <a:noFill/>
          </a:ln>
        </p:spPr>
      </p:pic>
      <p:pic>
        <p:nvPicPr>
          <p:cNvPr id="431" name="Google Shape;431;p55"/>
          <p:cNvPicPr preferRelativeResize="0"/>
          <p:nvPr/>
        </p:nvPicPr>
        <p:blipFill rotWithShape="1">
          <a:blip r:embed="rId6">
            <a:alphaModFix/>
          </a:blip>
          <a:srcRect b="0" l="0" r="0" t="0"/>
          <a:stretch/>
        </p:blipFill>
        <p:spPr>
          <a:xfrm>
            <a:off x="5521763" y="1294013"/>
            <a:ext cx="3236869" cy="2215688"/>
          </a:xfrm>
          <a:prstGeom prst="rect">
            <a:avLst/>
          </a:prstGeom>
          <a:noFill/>
          <a:ln>
            <a:noFill/>
          </a:ln>
        </p:spPr>
      </p:pic>
      <p:pic>
        <p:nvPicPr>
          <p:cNvPr id="432" name="Google Shape;432;p55"/>
          <p:cNvPicPr preferRelativeResize="0"/>
          <p:nvPr/>
        </p:nvPicPr>
        <p:blipFill rotWithShape="1">
          <a:blip r:embed="rId7">
            <a:alphaModFix/>
          </a:blip>
          <a:srcRect b="0" l="0" r="0" t="0"/>
          <a:stretch/>
        </p:blipFill>
        <p:spPr>
          <a:xfrm>
            <a:off x="5521775" y="3882696"/>
            <a:ext cx="3236851" cy="327614"/>
          </a:xfrm>
          <a:prstGeom prst="rect">
            <a:avLst/>
          </a:prstGeom>
          <a:noFill/>
          <a:ln cap="flat" cmpd="sng" w="9525">
            <a:solidFill>
              <a:srgbClr val="000000"/>
            </a:solidFill>
            <a:prstDash val="solid"/>
            <a:round/>
            <a:headEnd len="sm" w="sm" type="none"/>
            <a:tailEnd len="sm" w="sm" type="none"/>
          </a:ln>
        </p:spPr>
      </p:pic>
      <p:sp>
        <p:nvSpPr>
          <p:cNvPr id="433" name="Google Shape;433;p55"/>
          <p:cNvSpPr txBox="1"/>
          <p:nvPr>
            <p:ph idx="1" type="body"/>
          </p:nvPr>
        </p:nvSpPr>
        <p:spPr>
          <a:xfrm>
            <a:off x="6479300" y="3566993"/>
            <a:ext cx="1321800" cy="372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400"/>
              <a:buNone/>
            </a:pPr>
            <a:r>
              <a:rPr lang="en" sz="1200">
                <a:latin typeface="Arial"/>
                <a:ea typeface="Arial"/>
                <a:cs typeface="Arial"/>
                <a:sym typeface="Arial"/>
              </a:rPr>
              <a:t>before and after:</a:t>
            </a:r>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56"/>
          <p:cNvPicPr preferRelativeResize="0"/>
          <p:nvPr/>
        </p:nvPicPr>
        <p:blipFill rotWithShape="1">
          <a:blip r:embed="rId4">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439" name="Google Shape;439;p56"/>
          <p:cNvSpPr txBox="1"/>
          <p:nvPr>
            <p:ph type="title"/>
          </p:nvPr>
        </p:nvSpPr>
        <p:spPr>
          <a:xfrm>
            <a:off x="717500" y="597125"/>
            <a:ext cx="6321600" cy="6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700"/>
              <a:t>Evaluation Metrics</a:t>
            </a:r>
            <a:endParaRPr sz="2700"/>
          </a:p>
        </p:txBody>
      </p:sp>
      <p:sp>
        <p:nvSpPr>
          <p:cNvPr id="440" name="Google Shape;440;p56"/>
          <p:cNvSpPr txBox="1"/>
          <p:nvPr>
            <p:ph idx="1" type="body"/>
          </p:nvPr>
        </p:nvSpPr>
        <p:spPr>
          <a:xfrm>
            <a:off x="493100" y="1479925"/>
            <a:ext cx="4078800" cy="3242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SzPts val="1400"/>
              <a:buNone/>
            </a:pPr>
            <a:r>
              <a:rPr b="1" lang="en" sz="1200">
                <a:latin typeface="Arial"/>
                <a:ea typeface="Arial"/>
                <a:cs typeface="Arial"/>
                <a:sym typeface="Arial"/>
              </a:rPr>
              <a:t>Terminology</a:t>
            </a:r>
            <a:endParaRPr b="1" sz="1200">
              <a:latin typeface="Arial"/>
              <a:ea typeface="Arial"/>
              <a:cs typeface="Arial"/>
              <a:sym typeface="Arial"/>
            </a:endParaRPr>
          </a:p>
          <a:p>
            <a:pPr indent="-304800" lvl="0" marL="457200" rtl="0" algn="l">
              <a:lnSpc>
                <a:spcPct val="150000"/>
              </a:lnSpc>
              <a:spcBef>
                <a:spcPts val="1200"/>
              </a:spcBef>
              <a:spcAft>
                <a:spcPts val="0"/>
              </a:spcAft>
              <a:buSzPts val="1200"/>
              <a:buFont typeface="Arial"/>
              <a:buChar char="●"/>
            </a:pPr>
            <a:r>
              <a:rPr b="1" lang="en" sz="1200">
                <a:latin typeface="Arial"/>
                <a:ea typeface="Arial"/>
                <a:cs typeface="Arial"/>
                <a:sym typeface="Arial"/>
              </a:rPr>
              <a:t>Cosine Similarity:</a:t>
            </a:r>
            <a:r>
              <a:rPr lang="en" sz="1200">
                <a:latin typeface="Arial"/>
                <a:ea typeface="Arial"/>
                <a:cs typeface="Arial"/>
                <a:sym typeface="Arial"/>
              </a:rPr>
              <a:t> Measures similarity of text inputs by using cosine of both vector embeddings</a:t>
            </a:r>
            <a:endParaRPr sz="1200">
              <a:latin typeface="Arial"/>
              <a:ea typeface="Arial"/>
              <a:cs typeface="Arial"/>
              <a:sym typeface="Arial"/>
            </a:endParaRPr>
          </a:p>
          <a:p>
            <a:pPr indent="-304800" lvl="0" marL="457200" rtl="0" algn="l">
              <a:lnSpc>
                <a:spcPct val="150000"/>
              </a:lnSpc>
              <a:spcBef>
                <a:spcPts val="0"/>
              </a:spcBef>
              <a:spcAft>
                <a:spcPts val="0"/>
              </a:spcAft>
              <a:buSzPts val="1200"/>
              <a:buFont typeface="Arial"/>
              <a:buChar char="●"/>
            </a:pPr>
            <a:r>
              <a:rPr b="1" lang="en" sz="1200">
                <a:latin typeface="Arial"/>
                <a:ea typeface="Arial"/>
                <a:cs typeface="Arial"/>
                <a:sym typeface="Arial"/>
              </a:rPr>
              <a:t>Keyword Overlap:</a:t>
            </a:r>
            <a:r>
              <a:rPr lang="en" sz="1200">
                <a:latin typeface="Arial"/>
                <a:ea typeface="Arial"/>
                <a:cs typeface="Arial"/>
                <a:sym typeface="Arial"/>
              </a:rPr>
              <a:t> Matches documents to queries based on exact word matches and frequency to generate responses</a:t>
            </a:r>
            <a:endParaRPr sz="1200">
              <a:latin typeface="Arial"/>
              <a:ea typeface="Arial"/>
              <a:cs typeface="Arial"/>
              <a:sym typeface="Arial"/>
            </a:endParaRPr>
          </a:p>
          <a:p>
            <a:pPr indent="-304800" lvl="0" marL="457200" rtl="0" algn="l">
              <a:lnSpc>
                <a:spcPct val="150000"/>
              </a:lnSpc>
              <a:spcBef>
                <a:spcPts val="0"/>
              </a:spcBef>
              <a:spcAft>
                <a:spcPts val="0"/>
              </a:spcAft>
              <a:buSzPts val="1200"/>
              <a:buFont typeface="Arial"/>
              <a:buChar char="●"/>
            </a:pPr>
            <a:r>
              <a:rPr b="1" lang="en" sz="1200">
                <a:latin typeface="Arial"/>
                <a:ea typeface="Arial"/>
                <a:cs typeface="Arial"/>
                <a:sym typeface="Arial"/>
              </a:rPr>
              <a:t>Cross-Encoder:</a:t>
            </a:r>
            <a:r>
              <a:rPr lang="en" sz="1200">
                <a:latin typeface="Arial"/>
                <a:ea typeface="Arial"/>
                <a:cs typeface="Arial"/>
                <a:sym typeface="Arial"/>
              </a:rPr>
              <a:t> Text inputs (queries and answers) are processed simultaneously to produce a single relevance or similarity score</a:t>
            </a:r>
            <a:endParaRPr sz="1200">
              <a:latin typeface="Arial"/>
              <a:ea typeface="Arial"/>
              <a:cs typeface="Arial"/>
              <a:sym typeface="Arial"/>
            </a:endParaRPr>
          </a:p>
        </p:txBody>
      </p:sp>
      <p:pic>
        <p:nvPicPr>
          <p:cNvPr id="441" name="Google Shape;441;p56"/>
          <p:cNvPicPr preferRelativeResize="0"/>
          <p:nvPr/>
        </p:nvPicPr>
        <p:blipFill rotWithShape="1">
          <a:blip r:embed="rId5">
            <a:alphaModFix/>
          </a:blip>
          <a:srcRect b="0" l="0" r="0" t="0"/>
          <a:stretch/>
        </p:blipFill>
        <p:spPr>
          <a:xfrm>
            <a:off x="8148775" y="494975"/>
            <a:ext cx="734775" cy="734775"/>
          </a:xfrm>
          <a:prstGeom prst="rect">
            <a:avLst/>
          </a:prstGeom>
          <a:noFill/>
          <a:ln>
            <a:noFill/>
          </a:ln>
        </p:spPr>
      </p:pic>
      <p:sp>
        <p:nvSpPr>
          <p:cNvPr id="442" name="Google Shape;442;p56"/>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Ben</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p:txBody>
      </p:sp>
      <p:pic>
        <p:nvPicPr>
          <p:cNvPr id="443" name="Google Shape;443;p56" title="1_kGwzy-7j6QE1asitjng_3g-removebg-preview.png"/>
          <p:cNvPicPr preferRelativeResize="0"/>
          <p:nvPr/>
        </p:nvPicPr>
        <p:blipFill rotWithShape="1">
          <a:blip r:embed="rId6">
            <a:alphaModFix/>
          </a:blip>
          <a:srcRect b="0" l="13654" r="11980" t="5464"/>
          <a:stretch/>
        </p:blipFill>
        <p:spPr>
          <a:xfrm>
            <a:off x="4797375" y="1417075"/>
            <a:ext cx="3924474" cy="3242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7"/>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RAG Team</a:t>
            </a:r>
            <a:endParaRPr/>
          </a:p>
        </p:txBody>
      </p:sp>
      <p:sp>
        <p:nvSpPr>
          <p:cNvPr id="449" name="Google Shape;449;p57"/>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450" name="Google Shape;450;p57"/>
          <p:cNvSpPr/>
          <p:nvPr/>
        </p:nvSpPr>
        <p:spPr>
          <a:xfrm>
            <a:off x="2728200" y="790176"/>
            <a:ext cx="6459300" cy="3287400"/>
          </a:xfrm>
          <a:prstGeom prst="rect">
            <a:avLst/>
          </a:prstGeom>
          <a:solidFill>
            <a:srgbClr val="3C78D8"/>
          </a:solidFill>
          <a:ln cap="flat" cmpd="sng" w="9525">
            <a:solidFill>
              <a:srgbClr val="626C2E"/>
            </a:solidFill>
            <a:prstDash val="solid"/>
            <a:miter lim="800000"/>
            <a:headEnd len="sm" w="sm" type="none"/>
            <a:tailEnd len="sm" w="sm" type="none"/>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451" name="Google Shape;451;p57"/>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452" name="Google Shape;452;p57"/>
          <p:cNvSpPr txBox="1"/>
          <p:nvPr/>
        </p:nvSpPr>
        <p:spPr>
          <a:xfrm>
            <a:off x="3391338" y="155370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Results</a:t>
            </a:r>
            <a:endParaRPr b="1" i="0" sz="3700" u="none" cap="none" strike="noStrike">
              <a:solidFill>
                <a:schemeClr val="lt1"/>
              </a:solidFill>
              <a:latin typeface="Lexend"/>
              <a:ea typeface="Lexend"/>
              <a:cs typeface="Lexend"/>
              <a:sym typeface="Lexend"/>
            </a:endParaRPr>
          </a:p>
        </p:txBody>
      </p:sp>
      <p:pic>
        <p:nvPicPr>
          <p:cNvPr id="453" name="Google Shape;453;p57"/>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454" name="Google Shape;454;p57"/>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455" name="Google Shape;455;p57"/>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Ira</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58"/>
          <p:cNvPicPr preferRelativeResize="0"/>
          <p:nvPr/>
        </p:nvPicPr>
        <p:blipFill rotWithShape="1">
          <a:blip r:embed="rId3">
            <a:alphaModFix/>
          </a:blip>
          <a:srcRect b="0" l="0" r="0" t="0"/>
          <a:stretch/>
        </p:blipFill>
        <p:spPr>
          <a:xfrm>
            <a:off x="0" y="-54400"/>
            <a:ext cx="9144000" cy="5197901"/>
          </a:xfrm>
          <a:prstGeom prst="rect">
            <a:avLst/>
          </a:prstGeom>
          <a:solidFill>
            <a:srgbClr val="626C2E"/>
          </a:solidFill>
          <a:ln cap="flat" cmpd="sng" w="9525">
            <a:solidFill>
              <a:srgbClr val="626C2E"/>
            </a:solidFill>
            <a:prstDash val="solid"/>
            <a:miter lim="8000"/>
            <a:headEnd len="sm" w="sm" type="none"/>
            <a:tailEnd len="sm" w="sm" type="none"/>
          </a:ln>
        </p:spPr>
      </p:pic>
      <p:sp>
        <p:nvSpPr>
          <p:cNvPr id="461" name="Google Shape;461;p58"/>
          <p:cNvSpPr txBox="1"/>
          <p:nvPr/>
        </p:nvSpPr>
        <p:spPr>
          <a:xfrm>
            <a:off x="626806" y="2221093"/>
            <a:ext cx="4175400" cy="2824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Calibri"/>
                <a:ea typeface="Calibri"/>
                <a:cs typeface="Calibri"/>
                <a:sym typeface="Calibri"/>
              </a:rPr>
              <a:t>ChatBot Answer:</a:t>
            </a:r>
            <a:br>
              <a:rPr b="1" i="0" lang="en" sz="1100" u="none" cap="none" strike="noStrike">
                <a:solidFill>
                  <a:schemeClr val="dk1"/>
                </a:solidFill>
                <a:latin typeface="Calibri"/>
                <a:ea typeface="Calibri"/>
                <a:cs typeface="Calibri"/>
                <a:sym typeface="Calibri"/>
              </a:rPr>
            </a:br>
            <a:br>
              <a:rPr b="0" i="0" lang="en" sz="1100" u="none" cap="none" strike="noStrike">
                <a:solidFill>
                  <a:schemeClr val="dk1"/>
                </a:solidFill>
                <a:latin typeface="Calibri"/>
                <a:ea typeface="Calibri"/>
                <a:cs typeface="Calibri"/>
                <a:sym typeface="Calibri"/>
              </a:rPr>
            </a:br>
            <a:r>
              <a:rPr b="0" i="0" lang="en" sz="1100" u="none" cap="none" strike="noStrike">
                <a:solidFill>
                  <a:schemeClr val="dk1"/>
                </a:solidFill>
                <a:latin typeface="Calibri"/>
                <a:ea typeface="Calibri"/>
                <a:cs typeface="Calibri"/>
                <a:sym typeface="Calibri"/>
              </a:rPr>
              <a:t>To generate topology and inpcrd files of heavy water (D2O) using tleap, you can follow these steps: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Create a new topology file for D2O:</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leaprc.water.tip3p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source leaprc.water.tip3p</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loadAmberParams d2o.frcmod</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mol = loadPdb d2o.pdb</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saveAmberParm mol d2o.prmtop d2o.inpcrd</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quit</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Calibri"/>
                <a:ea typeface="Calibri"/>
                <a:cs typeface="Calibri"/>
                <a:sym typeface="Calibri"/>
              </a:rPr>
              <a:t>Please note that `d2o.frcmod` is a force field file for D2O, and you may need to create it first.</a:t>
            </a:r>
            <a:endParaRPr b="0" i="0" sz="1400" u="none" cap="none" strike="noStrike">
              <a:solidFill>
                <a:schemeClr val="dk1"/>
              </a:solidFill>
              <a:latin typeface="Calibri"/>
              <a:ea typeface="Calibri"/>
              <a:cs typeface="Calibri"/>
              <a:sym typeface="Calibri"/>
            </a:endParaRPr>
          </a:p>
        </p:txBody>
      </p:sp>
      <p:sp>
        <p:nvSpPr>
          <p:cNvPr id="462" name="Google Shape;462;p58"/>
          <p:cNvSpPr txBox="1"/>
          <p:nvPr/>
        </p:nvSpPr>
        <p:spPr>
          <a:xfrm>
            <a:off x="4977580" y="3006059"/>
            <a:ext cx="4019100" cy="1254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Calibri"/>
                <a:ea typeface="Calibri"/>
                <a:cs typeface="Calibri"/>
                <a:sym typeface="Calibri"/>
              </a:rPr>
              <a:t>AMBER Developer Answer:</a:t>
            </a:r>
            <a:br>
              <a:rPr b="0" i="0" lang="en" sz="1100" u="none" cap="none" strike="noStrike">
                <a:solidFill>
                  <a:schemeClr val="dk1"/>
                </a:solidFill>
                <a:latin typeface="Calibri"/>
                <a:ea typeface="Calibri"/>
                <a:cs typeface="Calibri"/>
                <a:sym typeface="Calibri"/>
              </a:rPr>
            </a:br>
            <a:br>
              <a:rPr b="0" i="0" lang="en" sz="1100" u="none" cap="none" strike="noStrike">
                <a:solidFill>
                  <a:schemeClr val="dk1"/>
                </a:solidFill>
                <a:latin typeface="Calibri"/>
                <a:ea typeface="Calibri"/>
                <a:cs typeface="Calibri"/>
                <a:sym typeface="Calibri"/>
              </a:rPr>
            </a:br>
            <a:r>
              <a:rPr b="0" i="0" lang="en" sz="1100" u="none" cap="none" strike="noStrike">
                <a:solidFill>
                  <a:schemeClr val="dk1"/>
                </a:solidFill>
                <a:highlight>
                  <a:srgbClr val="FFFFFF"/>
                </a:highlight>
                <a:latin typeface="Calibri"/>
                <a:ea typeface="Calibri"/>
                <a:cs typeface="Calibri"/>
                <a:sym typeface="Calibri"/>
              </a:rPr>
              <a:t>You could use parmed to modify the masses in the prmtop. However, think carefully about whether you really need to do this, and what difference from normal water you are trying to model.</a:t>
            </a:r>
            <a:br>
              <a:rPr b="0" i="0" lang="en" sz="1100" u="none" cap="none" strike="noStrike">
                <a:solidFill>
                  <a:schemeClr val="dk1"/>
                </a:solidFill>
                <a:highlight>
                  <a:srgbClr val="FFFFFF"/>
                </a:highlight>
                <a:latin typeface="Calibri"/>
                <a:ea typeface="Calibri"/>
                <a:cs typeface="Calibri"/>
                <a:sym typeface="Calibri"/>
              </a:rPr>
            </a:br>
            <a:endParaRPr b="0" i="0" sz="1100" u="none" cap="none" strike="noStrike">
              <a:solidFill>
                <a:schemeClr val="dk1"/>
              </a:solidFill>
              <a:highlight>
                <a:srgbClr val="FFFFFF"/>
              </a:highlight>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pic>
        <p:nvPicPr>
          <p:cNvPr descr="A close-up of a computer screen&#10;&#10;AI-generated content may be incorrect." id="463" name="Google Shape;463;p58"/>
          <p:cNvPicPr preferRelativeResize="0"/>
          <p:nvPr/>
        </p:nvPicPr>
        <p:blipFill rotWithShape="1">
          <a:blip r:embed="rId4">
            <a:alphaModFix/>
          </a:blip>
          <a:srcRect b="0" l="0" r="0" t="0"/>
          <a:stretch/>
        </p:blipFill>
        <p:spPr>
          <a:xfrm>
            <a:off x="1728788" y="1168928"/>
            <a:ext cx="5686425" cy="971550"/>
          </a:xfrm>
          <a:prstGeom prst="rect">
            <a:avLst/>
          </a:prstGeom>
          <a:noFill/>
          <a:ln cap="flat" cmpd="sng" w="9525">
            <a:solidFill>
              <a:schemeClr val="dk1"/>
            </a:solidFill>
            <a:prstDash val="solid"/>
            <a:round/>
            <a:headEnd len="sm" w="sm" type="none"/>
            <a:tailEnd len="sm" w="sm" type="none"/>
          </a:ln>
        </p:spPr>
      </p:pic>
      <p:sp>
        <p:nvSpPr>
          <p:cNvPr id="464" name="Google Shape;464;p58"/>
          <p:cNvSpPr txBox="1"/>
          <p:nvPr>
            <p:ph type="title"/>
          </p:nvPr>
        </p:nvSpPr>
        <p:spPr>
          <a:xfrm>
            <a:off x="794625" y="533525"/>
            <a:ext cx="6321600" cy="6354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 sz="2700">
                <a:latin typeface="Raleway"/>
                <a:ea typeface="Raleway"/>
                <a:cs typeface="Raleway"/>
                <a:sym typeface="Raleway"/>
              </a:rPr>
              <a:t>Sample Response</a:t>
            </a:r>
            <a:endParaRPr b="1" sz="2700">
              <a:latin typeface="Raleway"/>
              <a:ea typeface="Raleway"/>
              <a:cs typeface="Raleway"/>
              <a:sym typeface="Raleway"/>
            </a:endParaRPr>
          </a:p>
        </p:txBody>
      </p:sp>
      <p:sp>
        <p:nvSpPr>
          <p:cNvPr id="465" name="Google Shape;465;p58"/>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Ira</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59"/>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471" name="Google Shape;471;p59"/>
          <p:cNvSpPr txBox="1"/>
          <p:nvPr>
            <p:ph type="title"/>
          </p:nvPr>
        </p:nvSpPr>
        <p:spPr>
          <a:xfrm>
            <a:off x="717500" y="597125"/>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Results </a:t>
            </a:r>
            <a:endParaRPr/>
          </a:p>
        </p:txBody>
      </p:sp>
      <p:pic>
        <p:nvPicPr>
          <p:cNvPr id="472" name="Google Shape;472;p59"/>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473" name="Google Shape;473;p59"/>
          <p:cNvSpPr txBox="1"/>
          <p:nvPr/>
        </p:nvSpPr>
        <p:spPr>
          <a:xfrm>
            <a:off x="7404500" y="4722600"/>
            <a:ext cx="13173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Christian Perez</a:t>
            </a:r>
            <a:endParaRPr b="0" i="0" sz="1200" u="none" cap="none" strike="noStrike">
              <a:solidFill>
                <a:schemeClr val="dk2"/>
              </a:solidFill>
              <a:latin typeface="Arial"/>
              <a:ea typeface="Arial"/>
              <a:cs typeface="Arial"/>
              <a:sym typeface="Arial"/>
            </a:endParaRPr>
          </a:p>
        </p:txBody>
      </p:sp>
      <p:pic>
        <p:nvPicPr>
          <p:cNvPr id="474" name="Google Shape;474;p59" title="avg_ce_score_by_pipeline.png"/>
          <p:cNvPicPr preferRelativeResize="0"/>
          <p:nvPr/>
        </p:nvPicPr>
        <p:blipFill rotWithShape="1">
          <a:blip r:embed="rId5">
            <a:alphaModFix/>
          </a:blip>
          <a:srcRect b="0" l="0" r="0" t="0"/>
          <a:stretch/>
        </p:blipFill>
        <p:spPr>
          <a:xfrm>
            <a:off x="524950" y="1173975"/>
            <a:ext cx="4250976" cy="2656850"/>
          </a:xfrm>
          <a:prstGeom prst="rect">
            <a:avLst/>
          </a:prstGeom>
          <a:noFill/>
          <a:ln>
            <a:noFill/>
          </a:ln>
        </p:spPr>
      </p:pic>
      <p:pic>
        <p:nvPicPr>
          <p:cNvPr id="475" name="Google Shape;475;p59" title="rag_source_counts_summary.png"/>
          <p:cNvPicPr preferRelativeResize="0"/>
          <p:nvPr/>
        </p:nvPicPr>
        <p:blipFill rotWithShape="1">
          <a:blip r:embed="rId6">
            <a:alphaModFix/>
          </a:blip>
          <a:srcRect b="0" l="0" r="0" t="0"/>
          <a:stretch/>
        </p:blipFill>
        <p:spPr>
          <a:xfrm>
            <a:off x="4775925" y="1173975"/>
            <a:ext cx="3465975" cy="2475700"/>
          </a:xfrm>
          <a:prstGeom prst="rect">
            <a:avLst/>
          </a:prstGeom>
          <a:solidFill>
            <a:srgbClr val="626C2E"/>
          </a:solidFill>
          <a:ln cap="flat" cmpd="sng" w="9525">
            <a:solidFill>
              <a:srgbClr val="626C2E"/>
            </a:solidFill>
            <a:prstDash val="solid"/>
            <a:miter lim="8000"/>
            <a:headEnd len="sm" w="sm" type="none"/>
            <a:tailEnd len="sm" w="sm" type="none"/>
          </a:ln>
        </p:spPr>
      </p:pic>
      <p:sp>
        <p:nvSpPr>
          <p:cNvPr id="476" name="Google Shape;476;p59"/>
          <p:cNvSpPr txBox="1"/>
          <p:nvPr/>
        </p:nvSpPr>
        <p:spPr>
          <a:xfrm>
            <a:off x="786050" y="3781150"/>
            <a:ext cx="3916500" cy="103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Cross Encoder Test shows our LLM + RAG has more similarity with the correct answers than LLM and ChatGPT by itself. </a:t>
            </a:r>
            <a:endParaRPr b="0" i="0" sz="1400" u="none" cap="none" strike="noStrike">
              <a:solidFill>
                <a:schemeClr val="dk2"/>
              </a:solidFill>
              <a:latin typeface="Arial"/>
              <a:ea typeface="Arial"/>
              <a:cs typeface="Arial"/>
              <a:sym typeface="Arial"/>
            </a:endParaRPr>
          </a:p>
        </p:txBody>
      </p:sp>
      <p:sp>
        <p:nvSpPr>
          <p:cNvPr id="477" name="Google Shape;477;p59"/>
          <p:cNvSpPr txBox="1"/>
          <p:nvPr/>
        </p:nvSpPr>
        <p:spPr>
          <a:xfrm>
            <a:off x="4702550" y="3712975"/>
            <a:ext cx="3916500" cy="110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Source Documents pulled test shows how many sources are being pulled when asking a query. Depending on how the question is formatted, it will choose the top 5 CE Score. </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60"/>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483" name="Google Shape;483;p60"/>
          <p:cNvSpPr txBox="1"/>
          <p:nvPr>
            <p:ph type="title"/>
          </p:nvPr>
        </p:nvSpPr>
        <p:spPr>
          <a:xfrm>
            <a:off x="717500" y="597125"/>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Results </a:t>
            </a:r>
            <a:endParaRPr/>
          </a:p>
        </p:txBody>
      </p:sp>
      <p:pic>
        <p:nvPicPr>
          <p:cNvPr id="484" name="Google Shape;484;p60"/>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485" name="Google Shape;485;p60"/>
          <p:cNvSpPr txBox="1"/>
          <p:nvPr/>
        </p:nvSpPr>
        <p:spPr>
          <a:xfrm>
            <a:off x="7390625" y="4722600"/>
            <a:ext cx="13311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Christian Perez</a:t>
            </a:r>
            <a:endParaRPr b="0" i="0" sz="1200" u="none" cap="none" strike="noStrike">
              <a:solidFill>
                <a:schemeClr val="dk2"/>
              </a:solidFill>
              <a:latin typeface="Arial"/>
              <a:ea typeface="Arial"/>
              <a:cs typeface="Arial"/>
              <a:sym typeface="Arial"/>
            </a:endParaRPr>
          </a:p>
        </p:txBody>
      </p:sp>
      <p:sp>
        <p:nvSpPr>
          <p:cNvPr id="486" name="Google Shape;486;p60"/>
          <p:cNvSpPr txBox="1"/>
          <p:nvPr/>
        </p:nvSpPr>
        <p:spPr>
          <a:xfrm>
            <a:off x="805175" y="3802900"/>
            <a:ext cx="3916500" cy="103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Scatterplot shows LLM + RAG has the highest CE similarity score but less answer length. </a:t>
            </a:r>
            <a:endParaRPr b="0" i="0" sz="1400" u="none" cap="none" strike="noStrike">
              <a:solidFill>
                <a:schemeClr val="dk2"/>
              </a:solidFill>
              <a:latin typeface="Arial"/>
              <a:ea typeface="Arial"/>
              <a:cs typeface="Arial"/>
              <a:sym typeface="Arial"/>
            </a:endParaRPr>
          </a:p>
        </p:txBody>
      </p:sp>
      <p:sp>
        <p:nvSpPr>
          <p:cNvPr id="487" name="Google Shape;487;p60"/>
          <p:cNvSpPr txBox="1"/>
          <p:nvPr/>
        </p:nvSpPr>
        <p:spPr>
          <a:xfrm>
            <a:off x="4763250" y="3802900"/>
            <a:ext cx="3916500" cy="103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Average Keyword Overlap shows which pipeline had the most keywords searched. LLM + RAG is the lowest but still results in the highest CE similarity score.</a:t>
            </a:r>
            <a:endParaRPr b="0" i="0" sz="1400" u="none" cap="none" strike="noStrike">
              <a:solidFill>
                <a:schemeClr val="dk2"/>
              </a:solidFill>
              <a:latin typeface="Arial"/>
              <a:ea typeface="Arial"/>
              <a:cs typeface="Arial"/>
              <a:sym typeface="Arial"/>
            </a:endParaRPr>
          </a:p>
        </p:txBody>
      </p:sp>
      <p:pic>
        <p:nvPicPr>
          <p:cNvPr id="488" name="Google Shape;488;p60" title="ce_score_vs_answer_length.png"/>
          <p:cNvPicPr preferRelativeResize="0"/>
          <p:nvPr/>
        </p:nvPicPr>
        <p:blipFill rotWithShape="1">
          <a:blip r:embed="rId5">
            <a:alphaModFix/>
          </a:blip>
          <a:srcRect b="0" l="0" r="0" t="0"/>
          <a:stretch/>
        </p:blipFill>
        <p:spPr>
          <a:xfrm>
            <a:off x="511700" y="1160675"/>
            <a:ext cx="4307026" cy="2691900"/>
          </a:xfrm>
          <a:prstGeom prst="rect">
            <a:avLst/>
          </a:prstGeom>
          <a:noFill/>
          <a:ln>
            <a:noFill/>
          </a:ln>
        </p:spPr>
      </p:pic>
      <p:pic>
        <p:nvPicPr>
          <p:cNvPr id="489" name="Google Shape;489;p60" title="avg_kw_score_by_pipeline.png"/>
          <p:cNvPicPr preferRelativeResize="0"/>
          <p:nvPr/>
        </p:nvPicPr>
        <p:blipFill rotWithShape="1">
          <a:blip r:embed="rId6">
            <a:alphaModFix/>
          </a:blip>
          <a:srcRect b="0" l="0" r="0" t="0"/>
          <a:stretch/>
        </p:blipFill>
        <p:spPr>
          <a:xfrm>
            <a:off x="4818725" y="1282715"/>
            <a:ext cx="3916500" cy="2447810"/>
          </a:xfrm>
          <a:prstGeom prst="rect">
            <a:avLst/>
          </a:prstGeom>
          <a:solidFill>
            <a:srgbClr val="626C2E"/>
          </a:solidFill>
          <a:ln cap="flat" cmpd="sng" w="9525">
            <a:solidFill>
              <a:srgbClr val="626C2E"/>
            </a:solidFill>
            <a:prstDash val="solid"/>
            <a:miter lim="8000"/>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What’s Next</a:t>
            </a:r>
            <a:endParaRPr/>
          </a:p>
        </p:txBody>
      </p:sp>
      <p:sp>
        <p:nvSpPr>
          <p:cNvPr id="495" name="Google Shape;495;p61"/>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496" name="Google Shape;496;p61"/>
          <p:cNvSpPr/>
          <p:nvPr/>
        </p:nvSpPr>
        <p:spPr>
          <a:xfrm>
            <a:off x="2728200" y="790176"/>
            <a:ext cx="6459300" cy="3287400"/>
          </a:xfrm>
          <a:prstGeom prst="rect">
            <a:avLst/>
          </a:prstGeom>
          <a:solidFill>
            <a:srgbClr val="073763"/>
          </a:solidFill>
          <a:ln cap="flat" cmpd="sng" w="9525">
            <a:solidFill>
              <a:srgbClr val="626C2E"/>
            </a:solidFill>
            <a:prstDash val="solid"/>
            <a:miter lim="800000"/>
            <a:headEnd len="sm" w="sm" type="none"/>
            <a:tailEnd len="sm" w="sm" type="none"/>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497" name="Google Shape;497;p61"/>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498" name="Google Shape;498;p61"/>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Interactive Notebook Tutorials</a:t>
            </a:r>
            <a:endParaRPr b="1" i="0" sz="3700" u="none" cap="none" strike="noStrike">
              <a:solidFill>
                <a:schemeClr val="lt1"/>
              </a:solidFill>
              <a:latin typeface="Lexend"/>
              <a:ea typeface="Lexend"/>
              <a:cs typeface="Lexend"/>
              <a:sym typeface="Lexend"/>
            </a:endParaRPr>
          </a:p>
        </p:txBody>
      </p:sp>
      <p:pic>
        <p:nvPicPr>
          <p:cNvPr id="499" name="Google Shape;499;p61"/>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500" name="Google Shape;500;p61"/>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501" name="Google Shape;501;p61"/>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Braedon</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62"/>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507" name="Google Shape;507;p62"/>
          <p:cNvSpPr txBox="1"/>
          <p:nvPr>
            <p:ph type="title"/>
          </p:nvPr>
        </p:nvSpPr>
        <p:spPr>
          <a:xfrm>
            <a:off x="794625" y="533525"/>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Guide to Notebook</a:t>
            </a:r>
            <a:endParaRPr/>
          </a:p>
        </p:txBody>
      </p:sp>
      <p:sp>
        <p:nvSpPr>
          <p:cNvPr id="508" name="Google Shape;508;p62"/>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Braedon</a:t>
            </a:r>
            <a:endParaRPr b="0" i="0" sz="1200" u="none" cap="none" strike="noStrike">
              <a:solidFill>
                <a:schemeClr val="dk2"/>
              </a:solidFill>
              <a:latin typeface="Arial"/>
              <a:ea typeface="Arial"/>
              <a:cs typeface="Arial"/>
              <a:sym typeface="Arial"/>
            </a:endParaRPr>
          </a:p>
        </p:txBody>
      </p:sp>
      <p:pic>
        <p:nvPicPr>
          <p:cNvPr id="509" name="Google Shape;509;p62"/>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510" name="Google Shape;510;p62"/>
          <p:cNvSpPr txBox="1"/>
          <p:nvPr>
            <p:ph idx="1" type="body"/>
          </p:nvPr>
        </p:nvSpPr>
        <p:spPr>
          <a:xfrm>
            <a:off x="496950" y="1259925"/>
            <a:ext cx="4989300" cy="3462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n" sz="1200">
                <a:latin typeface="Arial"/>
                <a:ea typeface="Arial"/>
                <a:cs typeface="Arial"/>
                <a:sym typeface="Arial"/>
              </a:rPr>
              <a:t>Jupyter Notebook chosen for: Accessibility, Simplification, and Reproducibility Google Colab integration stopped for incompatibility with Apptainer</a:t>
            </a:r>
            <a:endParaRPr sz="1200">
              <a:latin typeface="Arial"/>
              <a:ea typeface="Arial"/>
              <a:cs typeface="Arial"/>
              <a:sym typeface="Arial"/>
            </a:endParaRPr>
          </a:p>
          <a:p>
            <a:pPr indent="-304800" lvl="0" marL="457200" rtl="0" algn="l">
              <a:lnSpc>
                <a:spcPct val="115000"/>
              </a:lnSpc>
              <a:spcBef>
                <a:spcPts val="1200"/>
              </a:spcBef>
              <a:spcAft>
                <a:spcPts val="0"/>
              </a:spcAft>
              <a:buSzPts val="1200"/>
              <a:buFont typeface="Arial"/>
              <a:buChar char="●"/>
            </a:pPr>
            <a:r>
              <a:rPr lang="en" sz="1200">
                <a:latin typeface="Arial"/>
                <a:ea typeface="Arial"/>
                <a:cs typeface="Arial"/>
                <a:sym typeface="Arial"/>
              </a:rPr>
              <a:t>Definition file with base image; add files, requirements, and dependencies for desired environment.</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Turn definition file into container image (.sif), used in notebooks to run same installed packages and system libraries every time.</a:t>
            </a:r>
            <a:endParaRPr sz="1200">
              <a:latin typeface="Arial"/>
              <a:ea typeface="Arial"/>
              <a:cs typeface="Arial"/>
              <a:sym typeface="Arial"/>
            </a:endParaRPr>
          </a:p>
          <a:p>
            <a:pPr indent="-304800" lvl="0" marL="457200" rtl="0" algn="l">
              <a:lnSpc>
                <a:spcPct val="115000"/>
              </a:lnSpc>
              <a:spcBef>
                <a:spcPts val="0"/>
              </a:spcBef>
              <a:spcAft>
                <a:spcPts val="0"/>
              </a:spcAft>
              <a:buSzPts val="1200"/>
              <a:buFont typeface="Arial"/>
              <a:buChar char="●"/>
            </a:pPr>
            <a:r>
              <a:rPr lang="en" sz="1200">
                <a:latin typeface="Arial"/>
                <a:ea typeface="Arial"/>
                <a:cs typeface="Arial"/>
                <a:sym typeface="Arial"/>
              </a:rPr>
              <a:t>Notebooks generated with code lines listed in tutorials to streamline progress with Amber</a:t>
            </a:r>
            <a:endParaRPr sz="1200">
              <a:latin typeface="Arial"/>
              <a:ea typeface="Arial"/>
              <a:cs typeface="Arial"/>
              <a:sym typeface="Arial"/>
            </a:endParaRPr>
          </a:p>
          <a:p>
            <a:pPr indent="0" lvl="0" marL="0" rtl="0" algn="l">
              <a:lnSpc>
                <a:spcPct val="115000"/>
              </a:lnSpc>
              <a:spcBef>
                <a:spcPts val="1200"/>
              </a:spcBef>
              <a:spcAft>
                <a:spcPts val="0"/>
              </a:spcAft>
              <a:buSzPts val="1400"/>
              <a:buNone/>
            </a:pPr>
            <a:r>
              <a:rPr lang="en" sz="1200">
                <a:latin typeface="Arial"/>
                <a:ea typeface="Arial"/>
                <a:cs typeface="Arial"/>
                <a:sym typeface="Arial"/>
              </a:rPr>
              <a:t>Work built on: Amberity (Gerald Monard)</a:t>
            </a:r>
            <a:endParaRPr sz="1200">
              <a:latin typeface="Arial"/>
              <a:ea typeface="Arial"/>
              <a:cs typeface="Arial"/>
              <a:sym typeface="Arial"/>
            </a:endParaRPr>
          </a:p>
          <a:p>
            <a:pPr indent="0" lvl="0" marL="0" rtl="0" algn="l">
              <a:lnSpc>
                <a:spcPct val="115000"/>
              </a:lnSpc>
              <a:spcBef>
                <a:spcPts val="1200"/>
              </a:spcBef>
              <a:spcAft>
                <a:spcPts val="1200"/>
              </a:spcAft>
              <a:buSzPts val="1400"/>
              <a:buNone/>
            </a:pPr>
            <a:r>
              <a:rPr lang="en" sz="1200">
                <a:latin typeface="Arial"/>
                <a:ea typeface="Arial"/>
                <a:cs typeface="Arial"/>
                <a:sym typeface="Arial"/>
              </a:rPr>
              <a:t>Built notebooks with image based on AmberTools, a lite version of Amber. Current notebooks encompass Amber tutorials 3.1 - 3.3</a:t>
            </a:r>
            <a:endParaRPr sz="1200">
              <a:latin typeface="Arial"/>
              <a:ea typeface="Arial"/>
              <a:cs typeface="Arial"/>
              <a:sym typeface="Arial"/>
            </a:endParaRPr>
          </a:p>
        </p:txBody>
      </p:sp>
      <p:pic>
        <p:nvPicPr>
          <p:cNvPr id="511" name="Google Shape;511;p62" title="Blank diagram.png"/>
          <p:cNvPicPr preferRelativeResize="0"/>
          <p:nvPr/>
        </p:nvPicPr>
        <p:blipFill rotWithShape="1">
          <a:blip r:embed="rId5">
            <a:alphaModFix/>
          </a:blip>
          <a:srcRect b="0" l="32378" r="0" t="0"/>
          <a:stretch/>
        </p:blipFill>
        <p:spPr>
          <a:xfrm>
            <a:off x="5703450" y="441127"/>
            <a:ext cx="2228126" cy="4261249"/>
          </a:xfrm>
          <a:prstGeom prst="rect">
            <a:avLst/>
          </a:prstGeom>
          <a:noFill/>
          <a:ln>
            <a:noFill/>
          </a:ln>
        </p:spPr>
      </p:pic>
      <p:pic>
        <p:nvPicPr>
          <p:cNvPr id="512" name="Google Shape;512;p62"/>
          <p:cNvPicPr preferRelativeResize="0"/>
          <p:nvPr/>
        </p:nvPicPr>
        <p:blipFill rotWithShape="1">
          <a:blip r:embed="rId6">
            <a:alphaModFix/>
          </a:blip>
          <a:srcRect b="0" l="0" r="0" t="0"/>
          <a:stretch/>
        </p:blipFill>
        <p:spPr>
          <a:xfrm>
            <a:off x="8148777" y="3041875"/>
            <a:ext cx="823426" cy="954373"/>
          </a:xfrm>
          <a:prstGeom prst="rect">
            <a:avLst/>
          </a:prstGeom>
          <a:noFill/>
          <a:ln>
            <a:noFill/>
          </a:ln>
        </p:spPr>
      </p:pic>
      <p:pic>
        <p:nvPicPr>
          <p:cNvPr id="513" name="Google Shape;513;p62"/>
          <p:cNvPicPr preferRelativeResize="0"/>
          <p:nvPr/>
        </p:nvPicPr>
        <p:blipFill rotWithShape="1">
          <a:blip r:embed="rId7">
            <a:alphaModFix/>
          </a:blip>
          <a:srcRect b="0" l="0" r="0" t="0"/>
          <a:stretch/>
        </p:blipFill>
        <p:spPr>
          <a:xfrm>
            <a:off x="8148775" y="1736448"/>
            <a:ext cx="823425" cy="79872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63"/>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519" name="Google Shape;519;p63"/>
          <p:cNvSpPr txBox="1"/>
          <p:nvPr>
            <p:ph type="title"/>
          </p:nvPr>
        </p:nvSpPr>
        <p:spPr>
          <a:xfrm>
            <a:off x="717500" y="597125"/>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Comparison </a:t>
            </a:r>
            <a:endParaRPr/>
          </a:p>
        </p:txBody>
      </p:sp>
      <p:sp>
        <p:nvSpPr>
          <p:cNvPr id="520" name="Google Shape;520;p63"/>
          <p:cNvSpPr txBox="1"/>
          <p:nvPr>
            <p:ph idx="1" type="body"/>
          </p:nvPr>
        </p:nvSpPr>
        <p:spPr>
          <a:xfrm>
            <a:off x="4571900" y="1308850"/>
            <a:ext cx="4572000" cy="179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400"/>
              <a:buNone/>
            </a:pPr>
            <a:r>
              <a:rPr b="1" lang="en" sz="1200">
                <a:latin typeface="Arial"/>
                <a:ea typeface="Arial"/>
                <a:cs typeface="Arial"/>
                <a:sym typeface="Arial"/>
              </a:rPr>
              <a:t>Improved tutorial notebooks</a:t>
            </a:r>
            <a:endParaRPr b="1" sz="12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200">
              <a:latin typeface="Arial"/>
              <a:ea typeface="Arial"/>
              <a:cs typeface="Arial"/>
              <a:sym typeface="Arial"/>
            </a:endParaRPr>
          </a:p>
        </p:txBody>
      </p:sp>
      <p:sp>
        <p:nvSpPr>
          <p:cNvPr id="521" name="Google Shape;521;p63"/>
          <p:cNvSpPr txBox="1"/>
          <p:nvPr>
            <p:ph idx="1" type="body"/>
          </p:nvPr>
        </p:nvSpPr>
        <p:spPr>
          <a:xfrm>
            <a:off x="493100" y="1308838"/>
            <a:ext cx="4078800" cy="179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400"/>
              <a:buNone/>
            </a:pPr>
            <a:r>
              <a:rPr b="1" lang="en" sz="1200">
                <a:latin typeface="Arial"/>
                <a:ea typeface="Arial"/>
                <a:cs typeface="Arial"/>
                <a:sym typeface="Arial"/>
              </a:rPr>
              <a:t>Current tutorials</a:t>
            </a:r>
            <a:endParaRPr b="1" sz="12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200">
              <a:latin typeface="Arial"/>
              <a:ea typeface="Arial"/>
              <a:cs typeface="Arial"/>
              <a:sym typeface="Arial"/>
            </a:endParaRPr>
          </a:p>
        </p:txBody>
      </p:sp>
      <p:pic>
        <p:nvPicPr>
          <p:cNvPr id="522" name="Google Shape;522;p63"/>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523" name="Google Shape;523;p63"/>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Leo</a:t>
            </a:r>
            <a:endParaRPr b="0" i="0" sz="1200" u="none" cap="none" strike="noStrike">
              <a:solidFill>
                <a:schemeClr val="dk2"/>
              </a:solidFill>
              <a:latin typeface="Arial"/>
              <a:ea typeface="Arial"/>
              <a:cs typeface="Arial"/>
              <a:sym typeface="Arial"/>
            </a:endParaRPr>
          </a:p>
        </p:txBody>
      </p:sp>
      <p:pic>
        <p:nvPicPr>
          <p:cNvPr id="524" name="Google Shape;524;p63" title="Screenshot 2026-04-30 160625.png"/>
          <p:cNvPicPr preferRelativeResize="0"/>
          <p:nvPr/>
        </p:nvPicPr>
        <p:blipFill rotWithShape="1">
          <a:blip r:embed="rId5">
            <a:alphaModFix/>
          </a:blip>
          <a:srcRect b="0" l="0" r="0" t="0"/>
          <a:stretch/>
        </p:blipFill>
        <p:spPr>
          <a:xfrm>
            <a:off x="545575" y="2664289"/>
            <a:ext cx="3549874" cy="2306210"/>
          </a:xfrm>
          <a:prstGeom prst="rect">
            <a:avLst/>
          </a:prstGeom>
          <a:noFill/>
          <a:ln>
            <a:noFill/>
          </a:ln>
        </p:spPr>
      </p:pic>
      <p:pic>
        <p:nvPicPr>
          <p:cNvPr id="525" name="Google Shape;525;p63" title="Screenshot 2026-04-30 160819.png"/>
          <p:cNvPicPr preferRelativeResize="0"/>
          <p:nvPr/>
        </p:nvPicPr>
        <p:blipFill rotWithShape="1">
          <a:blip r:embed="rId6">
            <a:alphaModFix/>
          </a:blip>
          <a:srcRect b="0" l="0" r="0" t="0"/>
          <a:stretch/>
        </p:blipFill>
        <p:spPr>
          <a:xfrm>
            <a:off x="545575" y="1752486"/>
            <a:ext cx="3549874" cy="911825"/>
          </a:xfrm>
          <a:prstGeom prst="rect">
            <a:avLst/>
          </a:prstGeom>
          <a:noFill/>
          <a:ln>
            <a:noFill/>
          </a:ln>
        </p:spPr>
      </p:pic>
      <p:pic>
        <p:nvPicPr>
          <p:cNvPr id="526" name="Google Shape;526;p63" title="Screenshot 2026-04-28 191608.png"/>
          <p:cNvPicPr preferRelativeResize="0"/>
          <p:nvPr/>
        </p:nvPicPr>
        <p:blipFill rotWithShape="1">
          <a:blip r:embed="rId7">
            <a:alphaModFix/>
          </a:blip>
          <a:srcRect b="0" l="0" r="33678" t="0"/>
          <a:stretch/>
        </p:blipFill>
        <p:spPr>
          <a:xfrm>
            <a:off x="4572001" y="1752475"/>
            <a:ext cx="3387961" cy="2970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4"/>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What’s Next</a:t>
            </a:r>
            <a:endParaRPr/>
          </a:p>
        </p:txBody>
      </p:sp>
      <p:sp>
        <p:nvSpPr>
          <p:cNvPr id="532" name="Google Shape;532;p64"/>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533" name="Google Shape;533;p64"/>
          <p:cNvSpPr/>
          <p:nvPr/>
        </p:nvSpPr>
        <p:spPr>
          <a:xfrm>
            <a:off x="2728200" y="790176"/>
            <a:ext cx="6459300" cy="3287400"/>
          </a:xfrm>
          <a:prstGeom prst="rect">
            <a:avLst/>
          </a:prstGeom>
          <a:solidFill>
            <a:srgbClr val="674EA7"/>
          </a:solidFill>
          <a:ln cap="flat" cmpd="sng" w="9525">
            <a:solidFill>
              <a:srgbClr val="626C2E"/>
            </a:solidFill>
            <a:prstDash val="solid"/>
            <a:miter lim="800000"/>
            <a:headEnd len="sm" w="sm" type="none"/>
            <a:tailEnd len="sm" w="sm" type="none"/>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534" name="Google Shape;534;p64"/>
          <p:cNvPicPr preferRelativeResize="0"/>
          <p:nvPr/>
        </p:nvPicPr>
        <p:blipFill rotWithShape="1">
          <a:blip r:embed="rId4">
            <a:alphaModFix/>
          </a:blip>
          <a:srcRect b="0" l="0" r="0" t="0"/>
          <a:stretch/>
        </p:blipFill>
        <p:spPr>
          <a:xfrm>
            <a:off x="-43523" y="790176"/>
            <a:ext cx="2771713" cy="3287380"/>
          </a:xfrm>
          <a:prstGeom prst="rect">
            <a:avLst/>
          </a:prstGeom>
          <a:noFill/>
          <a:ln>
            <a:noFill/>
          </a:ln>
        </p:spPr>
      </p:pic>
      <p:sp>
        <p:nvSpPr>
          <p:cNvPr id="535" name="Google Shape;535;p64"/>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Tasks Achieved </a:t>
            </a:r>
            <a:endParaRPr b="1" i="0" sz="3700" u="none" cap="none" strike="noStrike">
              <a:solidFill>
                <a:schemeClr val="lt1"/>
              </a:solidFill>
              <a:latin typeface="Lexend"/>
              <a:ea typeface="Lexend"/>
              <a:cs typeface="Lexend"/>
              <a:sym typeface="Lexend"/>
            </a:endParaRPr>
          </a:p>
        </p:txBody>
      </p:sp>
      <p:pic>
        <p:nvPicPr>
          <p:cNvPr id="536" name="Google Shape;536;p64"/>
          <p:cNvPicPr preferRelativeResize="0"/>
          <p:nvPr/>
        </p:nvPicPr>
        <p:blipFill rotWithShape="1">
          <a:blip r:embed="rId5">
            <a:alphaModFix/>
          </a:blip>
          <a:srcRect b="0" l="0" r="0" t="0"/>
          <a:stretch/>
        </p:blipFill>
        <p:spPr>
          <a:xfrm>
            <a:off x="-12" y="4187350"/>
            <a:ext cx="9111699" cy="361225"/>
          </a:xfrm>
          <a:prstGeom prst="rect">
            <a:avLst/>
          </a:prstGeom>
          <a:noFill/>
          <a:ln>
            <a:noFill/>
          </a:ln>
        </p:spPr>
      </p:pic>
      <p:pic>
        <p:nvPicPr>
          <p:cNvPr id="537" name="Google Shape;537;p64"/>
          <p:cNvPicPr preferRelativeResize="0"/>
          <p:nvPr/>
        </p:nvPicPr>
        <p:blipFill rotWithShape="1">
          <a:blip r:embed="rId6">
            <a:alphaModFix/>
          </a:blip>
          <a:srcRect b="95262" l="0" r="0" t="0"/>
          <a:stretch/>
        </p:blipFill>
        <p:spPr>
          <a:xfrm>
            <a:off x="-5062" y="0"/>
            <a:ext cx="9154124" cy="243151"/>
          </a:xfrm>
          <a:prstGeom prst="rect">
            <a:avLst/>
          </a:prstGeom>
          <a:noFill/>
          <a:ln>
            <a:noFill/>
          </a:ln>
        </p:spPr>
      </p:pic>
      <p:sp>
        <p:nvSpPr>
          <p:cNvPr id="538" name="Google Shape;538;p64"/>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Isaiah</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p65"/>
          <p:cNvPicPr preferRelativeResize="0"/>
          <p:nvPr/>
        </p:nvPicPr>
        <p:blipFill rotWithShape="1">
          <a:blip r:embed="rId4">
            <a:alphaModFix/>
          </a:blip>
          <a:srcRect b="0" l="0" r="0" t="0"/>
          <a:stretch/>
        </p:blipFill>
        <p:spPr>
          <a:xfrm>
            <a:off x="0" y="0"/>
            <a:ext cx="9144000" cy="5143500"/>
          </a:xfrm>
          <a:prstGeom prst="rect">
            <a:avLst/>
          </a:prstGeom>
          <a:solidFill>
            <a:srgbClr val="626C2E"/>
          </a:solidFill>
          <a:ln cap="flat" cmpd="sng" w="9525">
            <a:solidFill>
              <a:srgbClr val="626C2E"/>
            </a:solidFill>
            <a:prstDash val="solid"/>
            <a:miter lim="8000"/>
            <a:headEnd len="sm" w="sm" type="none"/>
            <a:tailEnd len="sm" w="sm" type="none"/>
          </a:ln>
        </p:spPr>
      </p:pic>
      <p:sp>
        <p:nvSpPr>
          <p:cNvPr id="544" name="Google Shape;544;p65"/>
          <p:cNvSpPr txBox="1"/>
          <p:nvPr>
            <p:ph type="title"/>
          </p:nvPr>
        </p:nvSpPr>
        <p:spPr>
          <a:xfrm>
            <a:off x="781000" y="575950"/>
            <a:ext cx="70437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Tasks Completed</a:t>
            </a:r>
            <a:endParaRPr/>
          </a:p>
        </p:txBody>
      </p:sp>
      <p:pic>
        <p:nvPicPr>
          <p:cNvPr id="545" name="Google Shape;545;p65"/>
          <p:cNvPicPr preferRelativeResize="0"/>
          <p:nvPr/>
        </p:nvPicPr>
        <p:blipFill rotWithShape="1">
          <a:blip r:embed="rId5">
            <a:alphaModFix/>
          </a:blip>
          <a:srcRect b="0" l="0" r="0" t="0"/>
          <a:stretch/>
        </p:blipFill>
        <p:spPr>
          <a:xfrm>
            <a:off x="8148775" y="494975"/>
            <a:ext cx="734775" cy="734775"/>
          </a:xfrm>
          <a:prstGeom prst="rect">
            <a:avLst/>
          </a:prstGeom>
          <a:noFill/>
          <a:ln>
            <a:noFill/>
          </a:ln>
        </p:spPr>
      </p:pic>
      <p:sp>
        <p:nvSpPr>
          <p:cNvPr id="546" name="Google Shape;546;p65"/>
          <p:cNvSpPr txBox="1"/>
          <p:nvPr/>
        </p:nvSpPr>
        <p:spPr>
          <a:xfrm>
            <a:off x="922425" y="1365200"/>
            <a:ext cx="7799400" cy="32490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Database</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Completed construction of ChromaDB vector database, with embeddigns and storage of scraped web pages, tutorials, manuals, and mailing data</a:t>
            </a:r>
            <a:endParaRPr b="0" i="0" sz="1200" u="none" cap="none" strike="noStrike">
              <a:solidFill>
                <a:schemeClr val="dk2"/>
              </a:solidFill>
              <a:latin typeface="Arial"/>
              <a:ea typeface="Arial"/>
              <a:cs typeface="Arial"/>
              <a:sym typeface="Arial"/>
            </a:endParaRPr>
          </a:p>
          <a:p>
            <a:pPr indent="-304800" lvl="0" marL="4572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Datascraping</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Developed Web Scraper for Particular Page, Mailing Archives (2020-25), &amp; Amber Tutorials</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Developed Storage Scripts</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Parsed Single HTMLs into JSON files, later Thread-level JSON files</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Automated Scraping &amp; Storage Processes using Airflow</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Stored AmberMD Reference Manual PDF Data to Use in RAG Pipeline </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Chunked the Content of Amber Tutorials </a:t>
            </a:r>
            <a:endParaRPr b="0" i="0" sz="1200" u="none" cap="none" strike="noStrike">
              <a:solidFill>
                <a:schemeClr val="dk2"/>
              </a:solidFill>
              <a:latin typeface="Arial"/>
              <a:ea typeface="Arial"/>
              <a:cs typeface="Arial"/>
              <a:sym typeface="Arial"/>
            </a:endParaRPr>
          </a:p>
          <a:p>
            <a:pPr indent="-304800" lvl="0" marL="4572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Retrieval-Augmented Generation (RAG)</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Developed a completed RAG Pipeline using Ollama + LLama3</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Fine-tuned pipeline using different comparison metrics to get the most accurate answers</a:t>
            </a:r>
            <a:endParaRPr b="0" i="0" sz="1200" u="none" cap="none" strike="noStrike">
              <a:solidFill>
                <a:schemeClr val="dk2"/>
              </a:solidFill>
              <a:latin typeface="Arial"/>
              <a:ea typeface="Arial"/>
              <a:cs typeface="Arial"/>
              <a:sym typeface="Arial"/>
            </a:endParaRPr>
          </a:p>
          <a:p>
            <a:pPr indent="-304800" lvl="1" marL="914400" marR="0" rtl="0" algn="l">
              <a:lnSpc>
                <a:spcPct val="115000"/>
              </a:lnSpc>
              <a:spcBef>
                <a:spcPts val="0"/>
              </a:spcBef>
              <a:spcAft>
                <a:spcPts val="0"/>
              </a:spcAft>
              <a:buClr>
                <a:schemeClr val="dk2"/>
              </a:buClr>
              <a:buSzPts val="1200"/>
              <a:buFont typeface="Arial"/>
              <a:buChar char="○"/>
            </a:pPr>
            <a:r>
              <a:rPr b="0" i="0" lang="en" sz="1200" u="none" cap="none" strike="noStrike">
                <a:solidFill>
                  <a:schemeClr val="dk2"/>
                </a:solidFill>
                <a:latin typeface="Arial"/>
                <a:ea typeface="Arial"/>
                <a:cs typeface="Arial"/>
                <a:sym typeface="Arial"/>
              </a:rPr>
              <a:t>Compared our chatbot’s performance with other LLMs</a:t>
            </a:r>
            <a:endParaRPr b="0" i="0" sz="1200" u="none" cap="none" strike="noStrike">
              <a:solidFill>
                <a:schemeClr val="dk2"/>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p:txBody>
      </p:sp>
      <p:sp>
        <p:nvSpPr>
          <p:cNvPr id="547" name="Google Shape;547;p65"/>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Isaiah</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6"/>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What’s Next</a:t>
            </a:r>
            <a:endParaRPr/>
          </a:p>
        </p:txBody>
      </p:sp>
      <p:sp>
        <p:nvSpPr>
          <p:cNvPr id="553" name="Google Shape;553;p66"/>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554" name="Google Shape;554;p66"/>
          <p:cNvSpPr/>
          <p:nvPr/>
        </p:nvSpPr>
        <p:spPr>
          <a:xfrm>
            <a:off x="2728200" y="790176"/>
            <a:ext cx="6459300" cy="3287400"/>
          </a:xfrm>
          <a:prstGeom prst="rect">
            <a:avLst/>
          </a:prstGeom>
          <a:solidFill>
            <a:srgbClr val="C27BA0"/>
          </a:solidFill>
          <a:ln cap="flat" cmpd="sng" w="9525">
            <a:solidFill>
              <a:srgbClr val="626C2E"/>
            </a:solidFill>
            <a:prstDash val="solid"/>
            <a:miter lim="800000"/>
            <a:headEnd len="sm" w="sm" type="none"/>
            <a:tailEnd len="sm" w="sm" type="none"/>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555" name="Google Shape;555;p66"/>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556" name="Google Shape;556;p66"/>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What’s next?</a:t>
            </a:r>
            <a:endParaRPr b="1" i="0" sz="3700" u="none" cap="none" strike="noStrike">
              <a:solidFill>
                <a:schemeClr val="lt1"/>
              </a:solidFill>
              <a:latin typeface="Lexend"/>
              <a:ea typeface="Lexend"/>
              <a:cs typeface="Lexend"/>
              <a:sym typeface="Lexend"/>
            </a:endParaRPr>
          </a:p>
        </p:txBody>
      </p:sp>
      <p:pic>
        <p:nvPicPr>
          <p:cNvPr id="557" name="Google Shape;557;p66"/>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558" name="Google Shape;558;p66"/>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559" name="Google Shape;559;p66"/>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Luis</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pic>
        <p:nvPicPr>
          <p:cNvPr id="564" name="Google Shape;564;p67"/>
          <p:cNvPicPr preferRelativeResize="0"/>
          <p:nvPr/>
        </p:nvPicPr>
        <p:blipFill rotWithShape="1">
          <a:blip r:embed="rId3">
            <a:alphaModFix/>
          </a:blip>
          <a:srcRect b="0" l="0" r="0" t="0"/>
          <a:stretch/>
        </p:blipFill>
        <p:spPr>
          <a:xfrm>
            <a:off x="0" y="0"/>
            <a:ext cx="9144000" cy="5143500"/>
          </a:xfrm>
          <a:prstGeom prst="rect">
            <a:avLst/>
          </a:prstGeom>
          <a:solidFill>
            <a:srgbClr val="626C2E"/>
          </a:solidFill>
          <a:ln>
            <a:noFill/>
          </a:ln>
        </p:spPr>
      </p:pic>
      <p:sp>
        <p:nvSpPr>
          <p:cNvPr id="565" name="Google Shape;565;p67"/>
          <p:cNvSpPr txBox="1"/>
          <p:nvPr>
            <p:ph type="title"/>
          </p:nvPr>
        </p:nvSpPr>
        <p:spPr>
          <a:xfrm>
            <a:off x="971500" y="607700"/>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Next steps</a:t>
            </a:r>
            <a:endParaRPr/>
          </a:p>
        </p:txBody>
      </p:sp>
      <p:sp>
        <p:nvSpPr>
          <p:cNvPr id="566" name="Google Shape;566;p67"/>
          <p:cNvSpPr txBox="1"/>
          <p:nvPr>
            <p:ph idx="2" type="body"/>
          </p:nvPr>
        </p:nvSpPr>
        <p:spPr>
          <a:xfrm>
            <a:off x="696450" y="1309500"/>
            <a:ext cx="4783800" cy="341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400"/>
              <a:buNone/>
            </a:pPr>
            <a:r>
              <a:rPr b="1" lang="en" sz="1100">
                <a:latin typeface="Arial"/>
                <a:ea typeface="Arial"/>
                <a:cs typeface="Arial"/>
                <a:sym typeface="Arial"/>
              </a:rPr>
              <a:t>AI Chatbot</a:t>
            </a:r>
            <a:endParaRPr b="1"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lang="en" sz="1100">
                <a:latin typeface="Arial"/>
                <a:ea typeface="Arial"/>
                <a:cs typeface="Arial"/>
                <a:sym typeface="Arial"/>
              </a:rPr>
              <a:t>AI agent can ask follow-up questions to refine the user’s request</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 sz="1100">
                <a:latin typeface="Arial"/>
                <a:ea typeface="Arial"/>
                <a:cs typeface="Arial"/>
                <a:sym typeface="Arial"/>
              </a:rPr>
              <a:t>Automatically creates tickets for the developer team when new or unresolved issues arise</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 sz="1100">
                <a:latin typeface="Arial"/>
                <a:ea typeface="Arial"/>
                <a:cs typeface="Arial"/>
                <a:sym typeface="Arial"/>
              </a:rPr>
              <a:t>Enhances support workflow and ensures no complex question is missed</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n" sz="1100">
                <a:latin typeface="Arial"/>
                <a:ea typeface="Arial"/>
                <a:cs typeface="Arial"/>
                <a:sym typeface="Arial"/>
              </a:rPr>
              <a:t>Prototype up and running on personal server. Plans for beta release to Amber developers for testing and improvement, eventual release for all Amber users</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b="1" lang="en" sz="1100">
                <a:latin typeface="Arial"/>
                <a:ea typeface="Arial"/>
                <a:cs typeface="Arial"/>
                <a:sym typeface="Arial"/>
              </a:rPr>
              <a:t>Interactive Amber Tutorials</a:t>
            </a:r>
            <a:endParaRPr sz="1100">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lang="en" sz="1100">
                <a:latin typeface="Arial"/>
                <a:ea typeface="Arial"/>
                <a:cs typeface="Arial"/>
                <a:sym typeface="Arial"/>
              </a:rPr>
              <a:t>Prototype in development with limited tutorials completed, but can be applied for wider selection once discussed with Amber team</a:t>
            </a:r>
            <a:endParaRPr sz="11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100">
              <a:latin typeface="Arial"/>
              <a:ea typeface="Arial"/>
              <a:cs typeface="Arial"/>
              <a:sym typeface="Arial"/>
            </a:endParaRPr>
          </a:p>
        </p:txBody>
      </p:sp>
      <p:pic>
        <p:nvPicPr>
          <p:cNvPr id="567" name="Google Shape;567;p67"/>
          <p:cNvPicPr preferRelativeResize="0"/>
          <p:nvPr/>
        </p:nvPicPr>
        <p:blipFill rotWithShape="1">
          <a:blip r:embed="rId4">
            <a:alphaModFix/>
          </a:blip>
          <a:srcRect b="0" l="0" r="0" t="0"/>
          <a:stretch/>
        </p:blipFill>
        <p:spPr>
          <a:xfrm>
            <a:off x="8148775" y="494975"/>
            <a:ext cx="734775" cy="734775"/>
          </a:xfrm>
          <a:prstGeom prst="rect">
            <a:avLst/>
          </a:prstGeom>
          <a:noFill/>
          <a:ln>
            <a:noFill/>
          </a:ln>
        </p:spPr>
      </p:pic>
      <p:sp>
        <p:nvSpPr>
          <p:cNvPr id="568" name="Google Shape;568;p67"/>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Luis</a:t>
            </a:r>
            <a:endParaRPr b="0" i="0" sz="1200" u="none" cap="none" strike="noStrike">
              <a:solidFill>
                <a:schemeClr val="dk2"/>
              </a:solidFill>
              <a:latin typeface="Arial"/>
              <a:ea typeface="Arial"/>
              <a:cs typeface="Arial"/>
              <a:sym typeface="Arial"/>
            </a:endParaRPr>
          </a:p>
        </p:txBody>
      </p:sp>
      <p:pic>
        <p:nvPicPr>
          <p:cNvPr descr="A screenshot of a chat&#10;&#10;AI-generated content may be incorrect." id="569" name="Google Shape;569;p67"/>
          <p:cNvPicPr preferRelativeResize="0"/>
          <p:nvPr/>
        </p:nvPicPr>
        <p:blipFill rotWithShape="1">
          <a:blip r:embed="rId5">
            <a:alphaModFix/>
          </a:blip>
          <a:srcRect b="0" l="0" r="0" t="0"/>
          <a:stretch/>
        </p:blipFill>
        <p:spPr>
          <a:xfrm>
            <a:off x="5948275" y="1309500"/>
            <a:ext cx="2353475" cy="3295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8"/>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What’s Next</a:t>
            </a:r>
            <a:endParaRPr/>
          </a:p>
        </p:txBody>
      </p:sp>
      <p:sp>
        <p:nvSpPr>
          <p:cNvPr id="575" name="Google Shape;575;p68"/>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576" name="Google Shape;576;p68"/>
          <p:cNvSpPr/>
          <p:nvPr/>
        </p:nvSpPr>
        <p:spPr>
          <a:xfrm>
            <a:off x="2728200" y="790176"/>
            <a:ext cx="6459300" cy="3287400"/>
          </a:xfrm>
          <a:prstGeom prst="rect">
            <a:avLst/>
          </a:prstGeom>
          <a:solidFill>
            <a:srgbClr val="666666"/>
          </a:solidFill>
          <a:ln cap="flat" cmpd="sng" w="9525">
            <a:solidFill>
              <a:srgbClr val="626C2E"/>
            </a:solidFill>
            <a:prstDash val="solid"/>
            <a:miter lim="800000"/>
            <a:headEnd len="sm" w="sm" type="none"/>
            <a:tailEnd len="sm" w="sm" type="none"/>
          </a:ln>
        </p:spPr>
        <p:txBody>
          <a:bodyPr anchorCtr="0" anchor="ctr" bIns="34300" lIns="68600" spcFirstLastPara="1" rIns="68600" wrap="square" tIns="343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Calibri"/>
              <a:ea typeface="Calibri"/>
              <a:cs typeface="Calibri"/>
              <a:sym typeface="Calibri"/>
            </a:endParaRPr>
          </a:p>
        </p:txBody>
      </p:sp>
      <p:pic>
        <p:nvPicPr>
          <p:cNvPr id="577" name="Google Shape;577;p68"/>
          <p:cNvPicPr preferRelativeResize="0"/>
          <p:nvPr/>
        </p:nvPicPr>
        <p:blipFill rotWithShape="1">
          <a:blip r:embed="rId3">
            <a:alphaModFix/>
          </a:blip>
          <a:srcRect b="0" l="0" r="0" t="0"/>
          <a:stretch/>
        </p:blipFill>
        <p:spPr>
          <a:xfrm>
            <a:off x="-43523" y="790176"/>
            <a:ext cx="2771713" cy="3287380"/>
          </a:xfrm>
          <a:prstGeom prst="rect">
            <a:avLst/>
          </a:prstGeom>
          <a:noFill/>
          <a:ln>
            <a:noFill/>
          </a:ln>
        </p:spPr>
      </p:pic>
      <p:sp>
        <p:nvSpPr>
          <p:cNvPr id="578" name="Google Shape;578;p68"/>
          <p:cNvSpPr txBox="1"/>
          <p:nvPr/>
        </p:nvSpPr>
        <p:spPr>
          <a:xfrm>
            <a:off x="3391363" y="1711150"/>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Thank you!</a:t>
            </a:r>
            <a:endParaRPr b="1" i="0" sz="3700" u="none" cap="none" strike="noStrike">
              <a:solidFill>
                <a:schemeClr val="lt1"/>
              </a:solidFill>
              <a:latin typeface="Lexend"/>
              <a:ea typeface="Lexend"/>
              <a:cs typeface="Lexend"/>
              <a:sym typeface="Lexend"/>
            </a:endParaRPr>
          </a:p>
        </p:txBody>
      </p:sp>
      <p:pic>
        <p:nvPicPr>
          <p:cNvPr id="579" name="Google Shape;579;p68"/>
          <p:cNvPicPr preferRelativeResize="0"/>
          <p:nvPr/>
        </p:nvPicPr>
        <p:blipFill rotWithShape="1">
          <a:blip r:embed="rId4">
            <a:alphaModFix/>
          </a:blip>
          <a:srcRect b="0" l="0" r="0" t="0"/>
          <a:stretch/>
        </p:blipFill>
        <p:spPr>
          <a:xfrm>
            <a:off x="-12" y="4187350"/>
            <a:ext cx="9111699" cy="361225"/>
          </a:xfrm>
          <a:prstGeom prst="rect">
            <a:avLst/>
          </a:prstGeom>
          <a:noFill/>
          <a:ln>
            <a:noFill/>
          </a:ln>
        </p:spPr>
      </p:pic>
      <p:pic>
        <p:nvPicPr>
          <p:cNvPr id="580" name="Google Shape;580;p68"/>
          <p:cNvPicPr preferRelativeResize="0"/>
          <p:nvPr/>
        </p:nvPicPr>
        <p:blipFill rotWithShape="1">
          <a:blip r:embed="rId5">
            <a:alphaModFix/>
          </a:blip>
          <a:srcRect b="95262" l="0" r="0" t="0"/>
          <a:stretch/>
        </p:blipFill>
        <p:spPr>
          <a:xfrm>
            <a:off x="-5062" y="0"/>
            <a:ext cx="9154124" cy="243151"/>
          </a:xfrm>
          <a:prstGeom prst="rect">
            <a:avLst/>
          </a:prstGeom>
          <a:noFill/>
          <a:ln>
            <a:noFill/>
          </a:ln>
        </p:spPr>
      </p:pic>
      <p:sp>
        <p:nvSpPr>
          <p:cNvPr id="581" name="Google Shape;581;p68"/>
          <p:cNvSpPr txBox="1"/>
          <p:nvPr/>
        </p:nvSpPr>
        <p:spPr>
          <a:xfrm>
            <a:off x="7561450" y="4722600"/>
            <a:ext cx="1160400" cy="42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Arial"/>
                <a:ea typeface="Arial"/>
                <a:cs typeface="Arial"/>
                <a:sym typeface="Arial"/>
              </a:rPr>
              <a:t>Braedon</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9"/>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What’s Next</a:t>
            </a:r>
            <a:endParaRPr/>
          </a:p>
        </p:txBody>
      </p:sp>
      <p:sp>
        <p:nvSpPr>
          <p:cNvPr id="587" name="Google Shape;587;p69"/>
          <p:cNvSpPr txBox="1"/>
          <p:nvPr>
            <p:ph idx="4294967295" type="title"/>
          </p:nvPr>
        </p:nvSpPr>
        <p:spPr>
          <a:xfrm>
            <a:off x="265500" y="1397350"/>
            <a:ext cx="4045200" cy="1318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Background of Amber</a:t>
            </a:r>
            <a:endParaRPr/>
          </a:p>
        </p:txBody>
      </p:sp>
      <p:sp>
        <p:nvSpPr>
          <p:cNvPr id="588" name="Google Shape;588;p69"/>
          <p:cNvSpPr txBox="1"/>
          <p:nvPr/>
        </p:nvSpPr>
        <p:spPr>
          <a:xfrm>
            <a:off x="3391338" y="2007475"/>
            <a:ext cx="5133000" cy="20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1" i="0" lang="en" sz="3500" u="none" cap="none" strike="noStrike">
                <a:solidFill>
                  <a:schemeClr val="lt1"/>
                </a:solidFill>
                <a:latin typeface="Lexend"/>
                <a:ea typeface="Lexend"/>
                <a:cs typeface="Lexend"/>
                <a:sym typeface="Lexend"/>
              </a:rPr>
              <a:t>Thank you!</a:t>
            </a:r>
            <a:br>
              <a:rPr b="1" i="0" lang="en" sz="3500" u="none" cap="none" strike="noStrike">
                <a:solidFill>
                  <a:schemeClr val="lt1"/>
                </a:solidFill>
                <a:latin typeface="Lexend"/>
                <a:ea typeface="Lexend"/>
                <a:cs typeface="Lexend"/>
                <a:sym typeface="Lexend"/>
              </a:rPr>
            </a:br>
            <a:endParaRPr b="1" i="0" sz="3500" u="none" cap="none" strike="noStrike">
              <a:solidFill>
                <a:schemeClr val="lt1"/>
              </a:solidFill>
              <a:latin typeface="Lexend"/>
              <a:ea typeface="Lexend"/>
              <a:cs typeface="Lexend"/>
              <a:sym typeface="Lexend"/>
            </a:endParaRPr>
          </a:p>
        </p:txBody>
      </p:sp>
      <p:pic>
        <p:nvPicPr>
          <p:cNvPr id="589" name="Google Shape;589;p69"/>
          <p:cNvPicPr preferRelativeResize="0"/>
          <p:nvPr/>
        </p:nvPicPr>
        <p:blipFill rotWithShape="1">
          <a:blip r:embed="rId3">
            <a:alphaModFix/>
          </a:blip>
          <a:srcRect b="0" l="0" r="0" t="0"/>
          <a:stretch/>
        </p:blipFill>
        <p:spPr>
          <a:xfrm>
            <a:off x="-12" y="4187350"/>
            <a:ext cx="9111699" cy="361225"/>
          </a:xfrm>
          <a:prstGeom prst="rect">
            <a:avLst/>
          </a:prstGeom>
          <a:noFill/>
          <a:ln>
            <a:noFill/>
          </a:ln>
        </p:spPr>
      </p:pic>
      <p:pic>
        <p:nvPicPr>
          <p:cNvPr id="590" name="Google Shape;590;p69"/>
          <p:cNvPicPr preferRelativeResize="0"/>
          <p:nvPr/>
        </p:nvPicPr>
        <p:blipFill rotWithShape="1">
          <a:blip r:embed="rId4">
            <a:alphaModFix/>
          </a:blip>
          <a:srcRect b="95262" l="0" r="0" t="0"/>
          <a:stretch/>
        </p:blipFill>
        <p:spPr>
          <a:xfrm>
            <a:off x="-5062" y="0"/>
            <a:ext cx="9154124" cy="243151"/>
          </a:xfrm>
          <a:prstGeom prst="rect">
            <a:avLst/>
          </a:prstGeom>
          <a:noFill/>
          <a:ln>
            <a:noFill/>
          </a:ln>
        </p:spPr>
      </p:pic>
      <p:pic>
        <p:nvPicPr>
          <p:cNvPr id="591" name="Google Shape;591;p69"/>
          <p:cNvPicPr preferRelativeResize="0"/>
          <p:nvPr/>
        </p:nvPicPr>
        <p:blipFill rotWithShape="1">
          <a:blip r:embed="rId5">
            <a:alphaModFix/>
          </a:blip>
          <a:srcRect b="0" l="0" r="0" t="0"/>
          <a:stretch/>
        </p:blipFill>
        <p:spPr>
          <a:xfrm>
            <a:off x="0" y="0"/>
            <a:ext cx="9144000" cy="5143500"/>
          </a:xfrm>
          <a:prstGeom prst="rect">
            <a:avLst/>
          </a:prstGeom>
          <a:solidFill>
            <a:srgbClr val="626C2E"/>
          </a:solidFill>
          <a:ln>
            <a:noFill/>
          </a:ln>
        </p:spPr>
      </p:pic>
      <p:sp>
        <p:nvSpPr>
          <p:cNvPr id="592" name="Google Shape;592;p69"/>
          <p:cNvSpPr txBox="1"/>
          <p:nvPr>
            <p:ph idx="4294967295" type="title"/>
          </p:nvPr>
        </p:nvSpPr>
        <p:spPr>
          <a:xfrm>
            <a:off x="971500" y="607700"/>
            <a:ext cx="6321600" cy="635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References</a:t>
            </a:r>
            <a:endParaRPr/>
          </a:p>
        </p:txBody>
      </p:sp>
      <p:sp>
        <p:nvSpPr>
          <p:cNvPr id="593" name="Google Shape;593;p69"/>
          <p:cNvSpPr txBox="1"/>
          <p:nvPr/>
        </p:nvSpPr>
        <p:spPr>
          <a:xfrm>
            <a:off x="1151275" y="1236175"/>
            <a:ext cx="8717400" cy="295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AmberMD Official Website</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6"/>
              </a:rPr>
              <a:t>https://ambermd.org</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Amber Mailing List Archive</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7"/>
              </a:rPr>
              <a:t>https://archive.ambermd.org</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AmberMD Tutorials </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8"/>
              </a:rPr>
              <a:t>https://ambermd.org/tutorials/</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Sentence-Transformers (MiniLM-L6-v2)</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9"/>
              </a:rPr>
              <a:t>https://www.sbert.net</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ChromaDB Documentation</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10"/>
              </a:rPr>
              <a:t>https://docs.trychroma.com</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DuckDB</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11"/>
              </a:rPr>
              <a:t>https://duckdb.org</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Apache Airflow Documentation</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12"/>
              </a:rPr>
              <a:t>https://airflow.apache.org/docs</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BeautifulSoup4 Documentation</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13"/>
              </a:rPr>
              <a:t>https://www.crummy.com/software/BeautifulSoup/bs4/doc</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Arial"/>
                <a:ea typeface="Arial"/>
                <a:cs typeface="Arial"/>
                <a:sym typeface="Arial"/>
              </a:rPr>
              <a:t>Retrieval-Augmented Generation Overview</a:t>
            </a:r>
            <a:endParaRPr b="1"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chemeClr val="hlink"/>
                </a:solidFill>
                <a:latin typeface="Arial"/>
                <a:ea typeface="Arial"/>
                <a:cs typeface="Arial"/>
                <a:sym typeface="Arial"/>
                <a:hlinkClick r:id="rId14"/>
              </a:rPr>
              <a:t>https://research.ibm.com/blog/retrieval-augmented-generation</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wiss">
  <a:themeElements>
    <a:clrScheme name="Swiss">
      <a:dk1>
        <a:srgbClr val="FF9900"/>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